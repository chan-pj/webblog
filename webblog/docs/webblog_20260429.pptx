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311" r:id="rId8"/>
    <p:sldId id="312" r:id="rId9"/>
    <p:sldId id="313" r:id="rId10"/>
    <p:sldId id="314" r:id="rId11"/>
    <p:sldId id="315" r:id="rId12"/>
    <p:sldId id="316" r:id="rId13"/>
    <p:sldId id="319" r:id="rId14"/>
    <p:sldId id="320" r:id="rId15"/>
    <p:sldId id="321" r:id="rId16"/>
    <p:sldId id="322" r:id="rId17"/>
    <p:sldId id="326" r:id="rId18"/>
    <p:sldId id="323" r:id="rId19"/>
    <p:sldId id="324" r:id="rId20"/>
    <p:sldId id="325" r:id="rId21"/>
    <p:sldId id="282" r:id="rId22"/>
    <p:sldId id="317" r:id="rId23"/>
    <p:sldId id="262" r:id="rId24"/>
    <p:sldId id="284" r:id="rId25"/>
    <p:sldId id="263" r:id="rId26"/>
    <p:sldId id="285" r:id="rId27"/>
    <p:sldId id="283" r:id="rId28"/>
    <p:sldId id="264" r:id="rId29"/>
    <p:sldId id="286" r:id="rId30"/>
    <p:sldId id="331" r:id="rId31"/>
    <p:sldId id="287" r:id="rId32"/>
    <p:sldId id="288" r:id="rId33"/>
    <p:sldId id="289" r:id="rId34"/>
    <p:sldId id="290" r:id="rId35"/>
    <p:sldId id="265" r:id="rId36"/>
    <p:sldId id="292" r:id="rId37"/>
    <p:sldId id="293" r:id="rId38"/>
    <p:sldId id="291" r:id="rId39"/>
    <p:sldId id="308" r:id="rId40"/>
    <p:sldId id="327" r:id="rId41"/>
    <p:sldId id="328" r:id="rId42"/>
    <p:sldId id="329" r:id="rId43"/>
    <p:sldId id="332" r:id="rId44"/>
    <p:sldId id="266" r:id="rId45"/>
    <p:sldId id="309" r:id="rId46"/>
    <p:sldId id="310" r:id="rId47"/>
    <p:sldId id="267" r:id="rId48"/>
    <p:sldId id="295" r:id="rId49"/>
    <p:sldId id="296" r:id="rId50"/>
    <p:sldId id="336" r:id="rId51"/>
    <p:sldId id="337" r:id="rId52"/>
    <p:sldId id="268" r:id="rId53"/>
    <p:sldId id="297" r:id="rId54"/>
    <p:sldId id="299" r:id="rId55"/>
    <p:sldId id="298" r:id="rId56"/>
    <p:sldId id="300" r:id="rId57"/>
    <p:sldId id="301" r:id="rId58"/>
    <p:sldId id="338" r:id="rId59"/>
    <p:sldId id="339" r:id="rId60"/>
    <p:sldId id="340" r:id="rId61"/>
    <p:sldId id="303" r:id="rId62"/>
    <p:sldId id="294" r:id="rId63"/>
    <p:sldId id="305" r:id="rId64"/>
    <p:sldId id="307" r:id="rId65"/>
    <p:sldId id="333" r:id="rId66"/>
    <p:sldId id="334" r:id="rId67"/>
    <p:sldId id="306" r:id="rId68"/>
    <p:sldId id="335" r:id="rId69"/>
    <p:sldId id="304" r:id="rId70"/>
    <p:sldId id="302" r:id="rId71"/>
    <p:sldId id="269" r:id="rId72"/>
    <p:sldId id="318" r:id="rId73"/>
    <p:sldId id="330" r:id="rId74"/>
    <p:sldId id="270" r:id="rId75"/>
    <p:sldId id="271" r:id="rId76"/>
    <p:sldId id="272" r:id="rId77"/>
    <p:sldId id="273" r:id="rId78"/>
    <p:sldId id="274" r:id="rId79"/>
    <p:sldId id="275" r:id="rId80"/>
    <p:sldId id="276" r:id="rId81"/>
    <p:sldId id="277" r:id="rId82"/>
    <p:sldId id="278" r:id="rId83"/>
    <p:sldId id="279" r:id="rId84"/>
    <p:sldId id="280" r:id="rId85"/>
    <p:sldId id="281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02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8F98E-835E-4E62-8804-7816585C546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5BF0-DCB4-419A-9A1C-D8263E07B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59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학생에게 한 번 URL을 따라가며 로그를 보라고 안내하면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4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1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9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4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5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6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6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9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5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2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1507" y="286603"/>
            <a:ext cx="11529946" cy="5214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507" y="893063"/>
            <a:ext cx="11529946" cy="54081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361507" y="834077"/>
            <a:ext cx="116176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01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2800" b="1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sz="7200" dirty="0" err="1"/>
              <a:t>webblog</a:t>
            </a:r>
            <a:r>
              <a:rPr sz="7200" dirty="0"/>
              <a:t> </a:t>
            </a:r>
            <a:r>
              <a:rPr sz="7200" dirty="0" err="1"/>
              <a:t>실습</a:t>
            </a:r>
            <a:r>
              <a:rPr sz="7200" dirty="0"/>
              <a:t> </a:t>
            </a:r>
            <a:r>
              <a:rPr sz="7200" dirty="0" err="1"/>
              <a:t>교안</a:t>
            </a:r>
            <a:r>
              <a:rPr sz="7200" dirty="0"/>
              <a:t> (5주)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dirty="0" err="1"/>
              <a:t>전자정부프레임워크</a:t>
            </a:r>
            <a:r>
              <a:rPr dirty="0"/>
              <a:t> 4.3.1 · Spring MVC · </a:t>
            </a:r>
            <a:r>
              <a:rPr dirty="0" err="1"/>
              <a:t>MyBatis</a:t>
            </a:r>
            <a:r>
              <a:rPr dirty="0"/>
              <a:t> · MariaDB · </a:t>
            </a:r>
            <a:r>
              <a:rPr dirty="0" err="1"/>
              <a:t>eGovFrame</a:t>
            </a:r>
            <a:r>
              <a:rPr dirty="0"/>
              <a:t> Web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프로젝트 전체 흐름과 계층 구조 이해</a:t>
            </a:r>
          </a:p>
          <a:p>
            <a:pPr>
              <a:defRPr sz="1800"/>
            </a:pPr>
            <a:r>
              <a:t>개발 환경 준비 및 eGovFrame 웹 프로젝트 구성 파악</a:t>
            </a:r>
          </a:p>
          <a:p>
            <a:pPr>
              <a:defRPr sz="1800"/>
            </a:pPr>
            <a:r>
              <a:t>설정 파일(pom, web, Spring, MyBatis, MVC, Tiles) 역할 이해</a:t>
            </a:r>
          </a:p>
          <a:p>
            <a:pPr>
              <a:defRPr sz="1800"/>
            </a:pPr>
            <a:r>
              <a:t>MariaDB 스키마·테이블·권한과 애플리케이션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프로젝트 전체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브라우저 요청 → Tomcat → web.xml(필터, 리스너, DispatcherServlet)</a:t>
            </a:r>
          </a:p>
          <a:p>
            <a:pPr>
              <a:defRPr sz="1800"/>
            </a:pPr>
            <a:r>
              <a:t>DispatcherServlet → dispatcher-servlet.xml(컨트롤러 매핑, 뷰 리졸버, 인터셉터)</a:t>
            </a:r>
          </a:p>
          <a:p>
            <a:pPr>
              <a:defRPr sz="1800"/>
            </a:pPr>
            <a:r>
              <a:t>@Controller → Service(@Service) → Mapper(MyBatis) → MariaDB</a:t>
            </a:r>
          </a:p>
          <a:p>
            <a:pPr>
              <a:defRPr sz="1800"/>
            </a:pPr>
            <a:r>
              <a:t>응답: Tiles 정의 → layout.jsp + body JSP → HTML</a:t>
            </a:r>
          </a:p>
          <a:p>
            <a:pPr>
              <a:defRPr sz="1800"/>
            </a:pPr>
            <a:r>
              <a:t>인증: 세션(loginUser), 관리자는 /admin/** 인터셉터로 ADMIN 역할 검사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프로젝트 준비사항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JDK 8, Maven 3.x, Apache Tomcat 9.x(또는 수업 환경에 맞는 버전)</a:t>
            </a:r>
          </a:p>
          <a:p>
            <a:pPr>
              <a:defRPr sz="1800"/>
            </a:pPr>
            <a:r>
              <a:t>MariaDB 설치 및 클라이언트(mysql, HeidiSQL 등)</a:t>
            </a:r>
          </a:p>
          <a:p>
            <a:pPr>
              <a:defRPr sz="1800"/>
            </a:pPr>
            <a:r>
              <a:t>IDE: Eclipse + eGovFrame 플러그인 또는 VS Code + Maven(선택)</a:t>
            </a:r>
          </a:p>
          <a:p>
            <a:pPr>
              <a:defRPr sz="1800"/>
            </a:pPr>
            <a:r>
              <a:t>Git(선택), 카카오 개발자 앱·REST API 키·Redirect URI 등록</a:t>
            </a:r>
          </a:p>
          <a:p>
            <a:pPr>
              <a:defRPr sz="1800"/>
            </a:pPr>
            <a:r>
              <a:t>환경변수: KAKAO_REST_API_KEY (카카오 로그인 실습 시)</a:t>
            </a:r>
          </a:p>
          <a:p>
            <a:pPr>
              <a:defRPr sz="1800"/>
            </a:pPr>
            <a:r>
              <a:t>DB 스크립트: src/main/resources/db/mariadb/*.sql 실행</a:t>
            </a:r>
          </a:p>
          <a:p>
            <a:pPr>
              <a:defRPr sz="1800"/>
            </a:pPr>
            <a:r>
              <a:t>DB 접속 정보: database.properties 또는 ~/.webblog/database.properties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eGovFrame Web Project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패키징: pom.xml에서 &lt;packaging&gt;war&lt;/packaging&gt;</a:t>
            </a:r>
          </a:p>
          <a:p>
            <a:pPr>
              <a:defRPr sz="1800"/>
            </a:pPr>
            <a:r>
              <a:t>src/main/java : 컨트롤러·서비스·매퍼 인터페이스·VO</a:t>
            </a:r>
          </a:p>
          <a:p>
            <a:pPr>
              <a:defRPr sz="1800"/>
            </a:pPr>
            <a:r>
              <a:t>src/main/resources : Spring XML, MyBatis XML, message, db 스크립트</a:t>
            </a:r>
          </a:p>
          <a:p>
            <a:pPr>
              <a:defRPr sz="1800"/>
            </a:pPr>
            <a:r>
              <a:t>src/main/webapp : JSP, 정적 리소스, WEB-INF/web.xml</a:t>
            </a:r>
          </a:p>
          <a:p>
            <a:pPr>
              <a:defRPr sz="1800"/>
            </a:pPr>
            <a:r>
              <a:t>WEB-INF/config/egovframework/springmvc : MVC·Tiles 설정</a:t>
            </a:r>
          </a:p>
          <a:p>
            <a:pPr>
              <a:defRPr sz="1800"/>
            </a:pPr>
            <a:r>
              <a:t>Root Context: web.xml의 ContextLoaderListener + context-*.xml</a:t>
            </a:r>
          </a:p>
          <a:p>
            <a:pPr>
              <a:defRPr sz="1800"/>
            </a:pPr>
            <a:r>
              <a:t>Servlet Context: DispatcherServlet + dispatcher-servlet.xml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DB 이름 예: pub_blog (utf8mb4)</a:t>
            </a:r>
          </a:p>
          <a:p>
            <a:pPr>
              <a:defRPr sz="1800"/>
            </a:pPr>
            <a:r>
              <a:t>00_create_database_and_user.sql: DB·사용자·GRANT</a:t>
            </a:r>
          </a:p>
          <a:p>
            <a:pPr>
              <a:defRPr sz="1800"/>
            </a:pPr>
            <a:r>
              <a:t>01_create_tables.sql: blog_user, blog, blog_member, post, blacklist_word</a:t>
            </a:r>
          </a:p>
          <a:p>
            <a:pPr>
              <a:defRPr sz="1800"/>
            </a:pPr>
            <a:r>
              <a:t>02_seed_admin_optional.sql(선택): role=ADMIN 테스트 계정</a:t>
            </a:r>
          </a:p>
          <a:p>
            <a:pPr>
              <a:defRPr sz="1800"/>
            </a:pPr>
            <a:r>
              <a:t>앱 연결: jdbc:mariadb://호스트:3306/pub_blog?...</a:t>
            </a:r>
          </a:p>
          <a:p>
            <a:pPr>
              <a:defRPr sz="1800"/>
            </a:pPr>
            <a:r>
              <a:t>MyBatis 매퍼 XML과 컬럼명·테이블명이 일치해야 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DB </a:t>
            </a:r>
            <a:r>
              <a:rPr dirty="0" err="1"/>
              <a:t>이름</a:t>
            </a:r>
            <a:r>
              <a:rPr dirty="0"/>
              <a:t> 예: </a:t>
            </a:r>
            <a:r>
              <a:rPr dirty="0" err="1"/>
              <a:t>pub_blog</a:t>
            </a:r>
            <a:r>
              <a:rPr dirty="0"/>
              <a:t> (utf8mb4)</a:t>
            </a:r>
          </a:p>
          <a:p>
            <a:pPr>
              <a:defRPr sz="1800"/>
            </a:pPr>
            <a:r>
              <a:rPr dirty="0"/>
              <a:t>00_create_database_and_user.sql: </a:t>
            </a:r>
            <a:r>
              <a:rPr dirty="0" err="1"/>
              <a:t>DB·사용자·GRANT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0BD5B7-1A13-4FD2-85C5-949B7B10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647825"/>
            <a:ext cx="6544926" cy="431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9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01_create_tables.sql: </a:t>
            </a:r>
            <a:r>
              <a:rPr dirty="0" err="1"/>
              <a:t>blog_user</a:t>
            </a:r>
            <a:r>
              <a:rPr dirty="0"/>
              <a:t>, blog, </a:t>
            </a:r>
            <a:r>
              <a:rPr dirty="0" err="1"/>
              <a:t>blog_member</a:t>
            </a:r>
            <a:r>
              <a:rPr dirty="0"/>
              <a:t>, post, </a:t>
            </a:r>
            <a:r>
              <a:rPr dirty="0" err="1"/>
              <a:t>blacklist_word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7A848C-1556-403A-A7EA-D7D1BDC6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1403984"/>
            <a:ext cx="7314267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1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01_create_tables.sql: </a:t>
            </a:r>
            <a:r>
              <a:rPr dirty="0" err="1"/>
              <a:t>blog_user</a:t>
            </a:r>
            <a:r>
              <a:rPr dirty="0"/>
              <a:t>, blog, </a:t>
            </a:r>
            <a:r>
              <a:rPr dirty="0" err="1"/>
              <a:t>blog_member</a:t>
            </a:r>
            <a:r>
              <a:rPr dirty="0"/>
              <a:t>, post, </a:t>
            </a:r>
            <a:r>
              <a:rPr dirty="0" err="1"/>
              <a:t>blacklist_word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752A9E-2CC1-4A2B-A6DF-BC377090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1364932"/>
            <a:ext cx="7376081" cy="352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7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01_create_tables.sql: </a:t>
            </a:r>
            <a:r>
              <a:rPr dirty="0" err="1"/>
              <a:t>blog_user</a:t>
            </a:r>
            <a:r>
              <a:rPr dirty="0"/>
              <a:t>, blog, </a:t>
            </a:r>
            <a:r>
              <a:rPr dirty="0" err="1"/>
              <a:t>blog_member</a:t>
            </a:r>
            <a:r>
              <a:rPr dirty="0"/>
              <a:t>, post, </a:t>
            </a:r>
            <a:r>
              <a:rPr dirty="0" err="1"/>
              <a:t>blacklist_word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3B0AD7-09A2-41E9-A651-CF1FD2C5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346834"/>
            <a:ext cx="7629457" cy="423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3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01_create_tables.sql: </a:t>
            </a:r>
            <a:r>
              <a:rPr dirty="0" err="1"/>
              <a:t>blog_user</a:t>
            </a:r>
            <a:r>
              <a:rPr dirty="0"/>
              <a:t>, blog, </a:t>
            </a:r>
            <a:r>
              <a:rPr dirty="0" err="1"/>
              <a:t>blog_member</a:t>
            </a:r>
            <a:r>
              <a:rPr dirty="0"/>
              <a:t>, post, </a:t>
            </a:r>
            <a:r>
              <a:rPr dirty="0" err="1"/>
              <a:t>blacklist_word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F6D1EA-DF75-403E-AD6E-7910CAC24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320164"/>
            <a:ext cx="8138335" cy="42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0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데이터베이스 및 테이블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01_create_tables.sql: </a:t>
            </a:r>
            <a:r>
              <a:rPr dirty="0" err="1"/>
              <a:t>blog_user</a:t>
            </a:r>
            <a:r>
              <a:rPr dirty="0"/>
              <a:t>, blog, </a:t>
            </a:r>
            <a:r>
              <a:rPr dirty="0" err="1"/>
              <a:t>blog_member</a:t>
            </a:r>
            <a:r>
              <a:rPr dirty="0"/>
              <a:t>, post, </a:t>
            </a:r>
            <a:r>
              <a:rPr dirty="0" err="1"/>
              <a:t>blacklist_word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15CC70-6E3B-49DD-8074-58FB98A4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343024"/>
            <a:ext cx="7993696" cy="312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3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자바 구성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64608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사이트</a:t>
            </a:r>
            <a:r>
              <a:rPr lang="en-US" altLang="ko-KR" dirty="0"/>
              <a:t>: https://jdk.java.net/archive/</a:t>
            </a:r>
          </a:p>
          <a:p>
            <a:r>
              <a:rPr lang="ko-KR" altLang="en-US" dirty="0"/>
              <a:t>다운로드</a:t>
            </a:r>
            <a:r>
              <a:rPr lang="en-US" altLang="ko-KR" dirty="0"/>
              <a:t>: </a:t>
            </a:r>
            <a:r>
              <a:rPr lang="ko-KR" altLang="en-US" dirty="0"/>
              <a:t>openjdk-21.0.2_windows-x64_bin.zip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기존 </a:t>
            </a:r>
            <a:r>
              <a:rPr lang="ko-KR" altLang="en-US" dirty="0" err="1"/>
              <a:t>톰켓</a:t>
            </a:r>
            <a:r>
              <a:rPr lang="ko-KR" altLang="en-US" dirty="0"/>
              <a:t> 경로와 동일한 경로에 압축해제 </a:t>
            </a:r>
            <a:r>
              <a:rPr lang="en-US" altLang="ko-KR" dirty="0"/>
              <a:t>: bin/jdk21.0.2</a:t>
            </a:r>
          </a:p>
          <a:p>
            <a:r>
              <a:rPr lang="ko-KR" altLang="en-US" dirty="0"/>
              <a:t>윈도우 환경설정 추가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D6C3A7-3549-4624-BA8A-F1AC2D9CF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2479239"/>
            <a:ext cx="3443605" cy="3771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75B44B-9D40-4859-9B8F-82417874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388" y="2492812"/>
            <a:ext cx="4428291" cy="11419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D16D2B-81AC-4067-B9D1-D7308806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819" y="3832860"/>
            <a:ext cx="4428292" cy="11419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D229EE-C70C-4ED5-8414-7900F87DC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50" y="2486788"/>
            <a:ext cx="4010025" cy="376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6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자바 구성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6460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이클립스 설정</a:t>
            </a:r>
            <a:r>
              <a:rPr lang="en-US" altLang="ko-KR" dirty="0"/>
              <a:t>: Window &gt; Preferences &gt;  Java &gt; Installed JREs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F5DBD0-DE29-42A3-8BAF-9687EE4B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3" y="1592226"/>
            <a:ext cx="5166674" cy="45262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C1BDDC-7B51-4848-ABF8-F20B392364EE}"/>
              </a:ext>
            </a:extLst>
          </p:cNvPr>
          <p:cNvSpPr txBox="1"/>
          <p:nvPr/>
        </p:nvSpPr>
        <p:spPr>
          <a:xfrm>
            <a:off x="6096000" y="5657850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Apply and Close </a:t>
            </a:r>
            <a:r>
              <a:rPr lang="ko-KR" altLang="en-US" b="1" dirty="0"/>
              <a:t>선택하여 적용</a:t>
            </a:r>
          </a:p>
        </p:txBody>
      </p:sp>
    </p:spTree>
    <p:extLst>
      <p:ext uri="{BB962C8B-B14F-4D97-AF65-F5344CB8AC3E}">
        <p14:creationId xmlns:p14="http://schemas.microsoft.com/office/powerpoint/2010/main" val="49741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자바 구성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11437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우 클릭하여 </a:t>
            </a:r>
            <a:r>
              <a:rPr lang="en-US" altLang="ko-KR" dirty="0" err="1"/>
              <a:t>Preperties</a:t>
            </a:r>
            <a:r>
              <a:rPr lang="en-US" altLang="ko-KR" dirty="0"/>
              <a:t> &gt; Java Build Path </a:t>
            </a:r>
          </a:p>
          <a:p>
            <a:r>
              <a:rPr lang="en-US" altLang="ko-KR" dirty="0"/>
              <a:t>JRE System Library </a:t>
            </a:r>
            <a:r>
              <a:rPr lang="ko-KR" altLang="en-US" dirty="0"/>
              <a:t>선택하고 </a:t>
            </a:r>
            <a:r>
              <a:rPr lang="en-US" altLang="ko-KR" dirty="0"/>
              <a:t>Edit</a:t>
            </a:r>
            <a:r>
              <a:rPr lang="ko-KR" altLang="en-US" dirty="0"/>
              <a:t>를 눌려 편집에서 </a:t>
            </a:r>
            <a:r>
              <a:rPr lang="en-US" altLang="ko-KR" dirty="0"/>
              <a:t>Alternate JRE</a:t>
            </a:r>
            <a:r>
              <a:rPr lang="ko-KR" altLang="en-US" dirty="0"/>
              <a:t>를 선택하여 </a:t>
            </a:r>
            <a:r>
              <a:rPr lang="en-US" altLang="ko-KR" dirty="0"/>
              <a:t>OpenJDK 21.0.2 </a:t>
            </a:r>
            <a:r>
              <a:rPr lang="ko-KR" altLang="en-US" dirty="0"/>
              <a:t>선택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A768DE-7CCE-4E65-ADF0-CC427871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3" y="1869225"/>
            <a:ext cx="5191125" cy="4381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B45412-3CAD-4E69-9AA6-E0C6A1A5A2EB}"/>
              </a:ext>
            </a:extLst>
          </p:cNvPr>
          <p:cNvSpPr txBox="1"/>
          <p:nvPr/>
        </p:nvSpPr>
        <p:spPr>
          <a:xfrm>
            <a:off x="6412230" y="5672852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Finish </a:t>
            </a:r>
            <a:r>
              <a:rPr lang="ko-KR" altLang="en-US" b="1" dirty="0"/>
              <a:t>선택하여 적용</a:t>
            </a:r>
          </a:p>
        </p:txBody>
      </p:sp>
    </p:spTree>
    <p:extLst>
      <p:ext uri="{BB962C8B-B14F-4D97-AF65-F5344CB8AC3E}">
        <p14:creationId xmlns:p14="http://schemas.microsoft.com/office/powerpoint/2010/main" val="302169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자바 구성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1143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우 클릭하여 </a:t>
            </a:r>
            <a:r>
              <a:rPr lang="en-US" altLang="ko-KR" dirty="0" err="1"/>
              <a:t>Preperties</a:t>
            </a:r>
            <a:r>
              <a:rPr lang="en-US" altLang="ko-KR" dirty="0"/>
              <a:t> &gt; Java Compiler</a:t>
            </a:r>
            <a:r>
              <a:rPr lang="ko-KR" altLang="en-US" dirty="0"/>
              <a:t>에서 </a:t>
            </a:r>
            <a:r>
              <a:rPr lang="en-US" altLang="ko-KR" dirty="0"/>
              <a:t>Compiler Compliance level</a:t>
            </a:r>
            <a:r>
              <a:rPr lang="ko-KR" altLang="en-US" dirty="0"/>
              <a:t>을 </a:t>
            </a:r>
            <a:r>
              <a:rPr lang="en-US" altLang="ko-KR" dirty="0"/>
              <a:t>21</a:t>
            </a:r>
            <a:r>
              <a:rPr lang="ko-KR" altLang="en-US" dirty="0"/>
              <a:t>로 선택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D69FAF-824B-46EC-89C5-D487456C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3" y="1592226"/>
            <a:ext cx="5711550" cy="4309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A8D5DB-7831-46D7-9C66-18983A79640E}"/>
              </a:ext>
            </a:extLst>
          </p:cNvPr>
          <p:cNvSpPr txBox="1"/>
          <p:nvPr/>
        </p:nvSpPr>
        <p:spPr>
          <a:xfrm>
            <a:off x="6435090" y="4774168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Apply and Close </a:t>
            </a:r>
            <a:r>
              <a:rPr lang="ko-KR" altLang="en-US" b="1" dirty="0"/>
              <a:t>선택하여 적용</a:t>
            </a:r>
          </a:p>
        </p:txBody>
      </p:sp>
    </p:spTree>
    <p:extLst>
      <p:ext uri="{BB962C8B-B14F-4D97-AF65-F5344CB8AC3E}">
        <p14:creationId xmlns:p14="http://schemas.microsoft.com/office/powerpoint/2010/main" val="3043781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자바 구성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1143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우 클릭하여 </a:t>
            </a:r>
            <a:r>
              <a:rPr lang="en-US" altLang="ko-KR" dirty="0" err="1"/>
              <a:t>Preperties</a:t>
            </a:r>
            <a:r>
              <a:rPr lang="en-US" altLang="ko-KR" dirty="0"/>
              <a:t> &gt; Project</a:t>
            </a:r>
            <a:r>
              <a:rPr lang="ko-KR" altLang="en-US" dirty="0"/>
              <a:t> </a:t>
            </a:r>
            <a:r>
              <a:rPr lang="en-US" altLang="ko-KR" dirty="0"/>
              <a:t>Facets</a:t>
            </a:r>
            <a:r>
              <a:rPr lang="ko-KR" altLang="en-US" dirty="0"/>
              <a:t>에서 </a:t>
            </a:r>
            <a:r>
              <a:rPr lang="en-US" altLang="ko-KR" dirty="0"/>
              <a:t>Java</a:t>
            </a:r>
            <a:r>
              <a:rPr lang="ko-KR" altLang="en-US" dirty="0"/>
              <a:t>의 버전을 </a:t>
            </a:r>
            <a:r>
              <a:rPr lang="en-US" altLang="ko-KR" dirty="0"/>
              <a:t>21</a:t>
            </a:r>
            <a:r>
              <a:rPr lang="ko-KR" altLang="en-US" dirty="0"/>
              <a:t>로 변경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8D5DB-7831-46D7-9C66-18983A79640E}"/>
              </a:ext>
            </a:extLst>
          </p:cNvPr>
          <p:cNvSpPr txBox="1"/>
          <p:nvPr/>
        </p:nvSpPr>
        <p:spPr>
          <a:xfrm>
            <a:off x="6880860" y="5657850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Apply and Close </a:t>
            </a:r>
            <a:r>
              <a:rPr lang="ko-KR" altLang="en-US" b="1" dirty="0"/>
              <a:t>선택하여 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7831D9-D6FD-4D08-AC95-EF4AAAB31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500786"/>
            <a:ext cx="6174098" cy="465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이클립스에서 아파치 </a:t>
            </a:r>
            <a:r>
              <a:rPr lang="ko-KR" altLang="en-US" dirty="0" err="1"/>
              <a:t>톰켓</a:t>
            </a:r>
            <a:r>
              <a:rPr lang="ko-KR" altLang="en-US" dirty="0"/>
              <a:t> 서버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E857-D3A1-4F49-B281-D3A6A8B5BE93}"/>
              </a:ext>
            </a:extLst>
          </p:cNvPr>
          <p:cNvSpPr txBox="1"/>
          <p:nvPr/>
        </p:nvSpPr>
        <p:spPr>
          <a:xfrm>
            <a:off x="454343" y="1015484"/>
            <a:ext cx="11437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사이트</a:t>
            </a:r>
            <a:r>
              <a:rPr lang="en-US" altLang="ko-KR" dirty="0"/>
              <a:t>: https://tomcat.apache.org/download-90.cgi</a:t>
            </a:r>
          </a:p>
          <a:p>
            <a:r>
              <a:rPr lang="ko-KR" altLang="en-US" dirty="0"/>
              <a:t>다운로드</a:t>
            </a:r>
            <a:r>
              <a:rPr lang="en-US" altLang="ko-KR" dirty="0"/>
              <a:t>: apache-tomcat-9.0.86.zip</a:t>
            </a:r>
          </a:p>
          <a:p>
            <a:r>
              <a:rPr lang="en-US" altLang="ko-KR" dirty="0" err="1"/>
              <a:t>eGOV</a:t>
            </a:r>
            <a:r>
              <a:rPr lang="en-US" altLang="ko-KR" dirty="0"/>
              <a:t> </a:t>
            </a:r>
            <a:r>
              <a:rPr lang="ko-KR" altLang="en-US" dirty="0" err="1"/>
              <a:t>홈디렉토리의</a:t>
            </a:r>
            <a:r>
              <a:rPr lang="ko-KR" altLang="en-US" dirty="0"/>
              <a:t> </a:t>
            </a:r>
            <a:r>
              <a:rPr lang="en-US" altLang="ko-KR" dirty="0"/>
              <a:t>bin </a:t>
            </a:r>
            <a:r>
              <a:rPr lang="ko-KR" altLang="en-US" dirty="0"/>
              <a:t>디렉토리에 압축 해제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CD5410-C437-45A0-B7CD-65B77DAF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9" y="2146224"/>
            <a:ext cx="5695263" cy="14085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2F3FCB-89A8-4912-8BF1-C66FE8BF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151" y="1015484"/>
            <a:ext cx="4396451" cy="4932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E314F3-E679-4F6F-A1AB-6A140A7FC817}"/>
              </a:ext>
            </a:extLst>
          </p:cNvPr>
          <p:cNvSpPr txBox="1"/>
          <p:nvPr/>
        </p:nvSpPr>
        <p:spPr>
          <a:xfrm>
            <a:off x="4039023" y="3886200"/>
            <a:ext cx="2481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Tomcat</a:t>
            </a:r>
            <a:r>
              <a:rPr lang="ko-KR" altLang="en-US" dirty="0"/>
              <a:t> </a:t>
            </a:r>
            <a:r>
              <a:rPr lang="en-US" altLang="ko-KR" dirty="0"/>
              <a:t>v9.0</a:t>
            </a:r>
            <a:r>
              <a:rPr lang="ko-KR" altLang="en-US" dirty="0"/>
              <a:t> </a:t>
            </a:r>
            <a:r>
              <a:rPr lang="en-US" altLang="ko-KR" dirty="0"/>
              <a:t>Server</a:t>
            </a:r>
            <a:r>
              <a:rPr lang="ko-KR" altLang="en-US" dirty="0"/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642031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이클립스에서 아파치 </a:t>
            </a:r>
            <a:r>
              <a:rPr lang="ko-KR" altLang="en-US" dirty="0" err="1"/>
              <a:t>톰켓</a:t>
            </a:r>
            <a:r>
              <a:rPr lang="ko-KR" altLang="en-US" dirty="0"/>
              <a:t> 서버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4A686B-34A1-49C5-B822-0E31246D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051836"/>
            <a:ext cx="4435792" cy="49765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B817F4-5A72-4285-A93F-508E57082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023" y="1051836"/>
            <a:ext cx="4435792" cy="49765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E314F3-E679-4F6F-A1AB-6A140A7FC817}"/>
              </a:ext>
            </a:extLst>
          </p:cNvPr>
          <p:cNvSpPr txBox="1"/>
          <p:nvPr/>
        </p:nvSpPr>
        <p:spPr>
          <a:xfrm>
            <a:off x="3335567" y="5124212"/>
            <a:ext cx="332058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Next</a:t>
            </a:r>
            <a:r>
              <a:rPr lang="ko-KR" altLang="en-US" b="1" dirty="0"/>
              <a:t> 클릭하여 프로젝트를 연결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94FBC99-30EF-4FAA-91CF-8FC82269C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399" y="2186702"/>
            <a:ext cx="2793697" cy="3833812"/>
          </a:xfrm>
          <a:prstGeom prst="rect">
            <a:avLst/>
          </a:prstGeom>
          <a:ln w="38100">
            <a:solidFill>
              <a:srgbClr val="0000CC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4497BF-34FE-431F-8E06-35DFCABE84AC}"/>
              </a:ext>
            </a:extLst>
          </p:cNvPr>
          <p:cNvSpPr txBox="1"/>
          <p:nvPr/>
        </p:nvSpPr>
        <p:spPr>
          <a:xfrm>
            <a:off x="8727750" y="5289590"/>
            <a:ext cx="21788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Finish</a:t>
            </a:r>
            <a:r>
              <a:rPr lang="ko-KR" altLang="en-US" b="1" dirty="0"/>
              <a:t>선택하여 완료</a:t>
            </a:r>
          </a:p>
        </p:txBody>
      </p:sp>
    </p:spTree>
    <p:extLst>
      <p:ext uri="{BB962C8B-B14F-4D97-AF65-F5344CB8AC3E}">
        <p14:creationId xmlns:p14="http://schemas.microsoft.com/office/powerpoint/2010/main" val="1652258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647B3-DDEC-4881-89E4-03F38A9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이클립스에서 아파치 </a:t>
            </a:r>
            <a:r>
              <a:rPr lang="ko-KR" altLang="en-US" dirty="0" err="1"/>
              <a:t>톰켓</a:t>
            </a:r>
            <a:r>
              <a:rPr lang="ko-KR" altLang="en-US" dirty="0"/>
              <a:t> 서버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14F3-E679-4F6F-A1AB-6A140A7FC817}"/>
              </a:ext>
            </a:extLst>
          </p:cNvPr>
          <p:cNvSpPr txBox="1"/>
          <p:nvPr/>
        </p:nvSpPr>
        <p:spPr>
          <a:xfrm>
            <a:off x="478067" y="1363742"/>
            <a:ext cx="324928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/>
              <a:t>http://localhost:8080/project</a:t>
            </a:r>
            <a:r>
              <a:rPr lang="ko-KR" altLang="en-US" b="1" dirty="0"/>
              <a:t>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4497BF-34FE-431F-8E06-35DFCABE84AC}"/>
              </a:ext>
            </a:extLst>
          </p:cNvPr>
          <p:cNvSpPr txBox="1"/>
          <p:nvPr/>
        </p:nvSpPr>
        <p:spPr>
          <a:xfrm>
            <a:off x="4076107" y="1179076"/>
            <a:ext cx="170162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/>
              <a:t>Server.xml </a:t>
            </a:r>
            <a:r>
              <a:rPr lang="ko-KR" altLang="en-US" b="1" dirty="0"/>
              <a:t>수정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AE2D7-3923-42D4-AB0F-C70D2DBD6D51}"/>
              </a:ext>
            </a:extLst>
          </p:cNvPr>
          <p:cNvSpPr txBox="1"/>
          <p:nvPr/>
        </p:nvSpPr>
        <p:spPr>
          <a:xfrm>
            <a:off x="6126480" y="1368270"/>
            <a:ext cx="234160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http://localhost:8080/</a:t>
            </a:r>
            <a:endParaRPr lang="ko-KR" altLang="en-US" b="1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C5FB9C9-CA28-45E2-BF40-E06E50714E58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3727354" y="1548408"/>
            <a:ext cx="2399126" cy="4528"/>
          </a:xfrm>
          <a:prstGeom prst="straightConnector1">
            <a:avLst/>
          </a:prstGeom>
          <a:ln w="28575">
            <a:solidFill>
              <a:srgbClr val="0000CC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4464650-2AE1-44BF-A3B0-9854D5D91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7" y="2168842"/>
            <a:ext cx="2800350" cy="14001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FC2EC5E-8010-4F36-A1EE-D1A6C73A8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54" y="2259243"/>
            <a:ext cx="6546486" cy="10910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84D4F7A-810B-4C0D-9D95-061DDE3A0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354" y="3906254"/>
            <a:ext cx="5538555" cy="98578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C84FF5-40B6-4CC9-990B-A9315C959E98}"/>
              </a:ext>
            </a:extLst>
          </p:cNvPr>
          <p:cNvSpPr/>
          <p:nvPr/>
        </p:nvSpPr>
        <p:spPr>
          <a:xfrm>
            <a:off x="6926580" y="2366010"/>
            <a:ext cx="1634490" cy="480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55EFFC-F126-4A82-A0CA-E76CA14DF17D}"/>
              </a:ext>
            </a:extLst>
          </p:cNvPr>
          <p:cNvSpPr/>
          <p:nvPr/>
        </p:nvSpPr>
        <p:spPr>
          <a:xfrm>
            <a:off x="6743700" y="4033771"/>
            <a:ext cx="971550" cy="366779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76EE6D0-1F39-4788-8868-D8E0DBC4E5C1}"/>
              </a:ext>
            </a:extLst>
          </p:cNvPr>
          <p:cNvCxnSpPr>
            <a:stCxn id="17" idx="2"/>
          </p:cNvCxnSpPr>
          <p:nvPr/>
        </p:nvCxnSpPr>
        <p:spPr>
          <a:xfrm rot="5400000">
            <a:off x="6878513" y="3168458"/>
            <a:ext cx="1187701" cy="542925"/>
          </a:xfrm>
          <a:prstGeom prst="bentConnector3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415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1주차 · </a:t>
            </a:r>
            <a:r>
              <a:rPr lang="ko-KR" altLang="en-US" dirty="0"/>
              <a:t>프로젝트 </a:t>
            </a:r>
            <a:r>
              <a:rPr dirty="0" err="1"/>
              <a:t>구성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077B76-FBB3-4D01-B05B-A7766BF9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38" y="1282062"/>
            <a:ext cx="3031661" cy="21469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E6EA4-F97A-4A81-AD4C-52CC90E87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299" y="1282063"/>
            <a:ext cx="2175753" cy="21469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B60834-D164-4C6F-8D7E-5D0667589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052" y="1282063"/>
            <a:ext cx="2624138" cy="44896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588B4F9-BDEC-4204-A44A-F550D406A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88" y="1282063"/>
            <a:ext cx="3414547" cy="276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21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1주차 · </a:t>
            </a:r>
            <a:r>
              <a:rPr lang="ko-KR" altLang="en-US" dirty="0"/>
              <a:t>프로젝트 </a:t>
            </a:r>
            <a:r>
              <a:rPr dirty="0" err="1"/>
              <a:t>구성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84300-34CE-4815-B7B9-A45F7E9CB2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846" b="29989"/>
          <a:stretch/>
        </p:blipFill>
        <p:spPr>
          <a:xfrm>
            <a:off x="8343900" y="835243"/>
            <a:ext cx="3257550" cy="54450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D70C50-5B40-4827-9247-16DABE5698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027" r="45077"/>
          <a:stretch/>
        </p:blipFill>
        <p:spPr>
          <a:xfrm>
            <a:off x="361507" y="1663645"/>
            <a:ext cx="4393805" cy="3788229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BE49A555-F7F2-4F7C-8D08-1750BE774578}"/>
              </a:ext>
            </a:extLst>
          </p:cNvPr>
          <p:cNvSpPr/>
          <p:nvPr/>
        </p:nvSpPr>
        <p:spPr>
          <a:xfrm>
            <a:off x="4766310" y="1706305"/>
            <a:ext cx="3577590" cy="3711515"/>
          </a:xfrm>
          <a:custGeom>
            <a:avLst/>
            <a:gdLst>
              <a:gd name="connsiteX0" fmla="*/ 3577590 w 3577590"/>
              <a:gd name="connsiteY0" fmla="*/ 3711515 h 3711515"/>
              <a:gd name="connsiteX1" fmla="*/ 1840230 w 3577590"/>
              <a:gd name="connsiteY1" fmla="*/ 431105 h 3711515"/>
              <a:gd name="connsiteX2" fmla="*/ 0 w 3577590"/>
              <a:gd name="connsiteY2" fmla="*/ 133925 h 371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7590" h="3711515">
                <a:moveTo>
                  <a:pt x="3577590" y="3711515"/>
                </a:moveTo>
                <a:cubicBezTo>
                  <a:pt x="3007042" y="2369442"/>
                  <a:pt x="2436495" y="1027370"/>
                  <a:pt x="1840230" y="431105"/>
                </a:cubicBezTo>
                <a:cubicBezTo>
                  <a:pt x="1243965" y="-165160"/>
                  <a:pt x="621982" y="-15618"/>
                  <a:pt x="0" y="1339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8AEA9CC-14D4-4CD6-A20A-FD8B7409C359}"/>
              </a:ext>
            </a:extLst>
          </p:cNvPr>
          <p:cNvSpPr/>
          <p:nvPr/>
        </p:nvSpPr>
        <p:spPr>
          <a:xfrm>
            <a:off x="4743450" y="1956212"/>
            <a:ext cx="3623310" cy="3655918"/>
          </a:xfrm>
          <a:custGeom>
            <a:avLst/>
            <a:gdLst>
              <a:gd name="connsiteX0" fmla="*/ 3623310 w 3623310"/>
              <a:gd name="connsiteY0" fmla="*/ 3655918 h 3655918"/>
              <a:gd name="connsiteX1" fmla="*/ 2114550 w 3623310"/>
              <a:gd name="connsiteY1" fmla="*/ 2101438 h 3655918"/>
              <a:gd name="connsiteX2" fmla="*/ 1417320 w 3623310"/>
              <a:gd name="connsiteY2" fmla="*/ 226918 h 3655918"/>
              <a:gd name="connsiteX3" fmla="*/ 0 w 3623310"/>
              <a:gd name="connsiteY3" fmla="*/ 101188 h 365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3310" h="3655918">
                <a:moveTo>
                  <a:pt x="3623310" y="3655918"/>
                </a:moveTo>
                <a:cubicBezTo>
                  <a:pt x="3052762" y="3164428"/>
                  <a:pt x="2482215" y="2672938"/>
                  <a:pt x="2114550" y="2101438"/>
                </a:cubicBezTo>
                <a:cubicBezTo>
                  <a:pt x="1746885" y="1529938"/>
                  <a:pt x="1769745" y="560293"/>
                  <a:pt x="1417320" y="226918"/>
                </a:cubicBezTo>
                <a:cubicBezTo>
                  <a:pt x="1064895" y="-106457"/>
                  <a:pt x="532447" y="-2635"/>
                  <a:pt x="0" y="10118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79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pom.xml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의존성: eGovFrame RTE, Spring, MyBatis, MariaDB 드라이버, Tiles, JSTL 등</a:t>
            </a:r>
          </a:p>
          <a:p>
            <a:pPr>
              <a:defRPr sz="1800"/>
            </a:pPr>
            <a:r>
              <a:t>commons-dbcp2: DataSource(BasicDataSource)용</a:t>
            </a:r>
          </a:p>
          <a:p>
            <a:pPr>
              <a:defRPr sz="1800"/>
            </a:pPr>
            <a:r>
              <a:t>빌드: maven-compiler-plugin (Java 8), maven-war-plugin</a:t>
            </a:r>
          </a:p>
          <a:p>
            <a:pPr>
              <a:defRPr sz="1800"/>
            </a:pPr>
            <a:r>
              <a:t>mvn package → target/webblog-1.0.0.war 생성</a:t>
            </a:r>
          </a:p>
          <a:p>
            <a:pPr>
              <a:defRPr sz="1800"/>
            </a:pPr>
            <a:r>
              <a:t>인코딩: project.build.sourceEncoding=UTF-8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303D6E-80AA-4FD7-9665-D176C159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3157537"/>
            <a:ext cx="3835084" cy="17459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web.xml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 err="1"/>
              <a:t>CharacterEncodingFilter</a:t>
            </a:r>
            <a:r>
              <a:rPr lang="en-US" dirty="0"/>
              <a:t>: *.do </a:t>
            </a:r>
            <a:r>
              <a:rPr lang="ko-KR" altLang="en-US" dirty="0"/>
              <a:t>요청 </a:t>
            </a:r>
            <a:r>
              <a:rPr lang="en-US" dirty="0"/>
              <a:t>UTF-8</a:t>
            </a:r>
          </a:p>
          <a:p>
            <a:pPr>
              <a:defRPr sz="1800"/>
            </a:pPr>
            <a:r>
              <a:rPr dirty="0" err="1"/>
              <a:t>HTMLTagFilter</a:t>
            </a:r>
            <a:r>
              <a:rPr dirty="0"/>
              <a:t>: </a:t>
            </a:r>
            <a:r>
              <a:rPr dirty="0" err="1"/>
              <a:t>eGovFrame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필터</a:t>
            </a:r>
            <a:endParaRPr dirty="0"/>
          </a:p>
          <a:p>
            <a:pPr>
              <a:defRPr sz="1800"/>
            </a:pPr>
            <a:r>
              <a:rPr dirty="0" err="1"/>
              <a:t>contextConfigLocation</a:t>
            </a:r>
            <a:r>
              <a:rPr dirty="0"/>
              <a:t>: </a:t>
            </a:r>
            <a:r>
              <a:rPr dirty="0" err="1"/>
              <a:t>classpath</a:t>
            </a:r>
            <a:r>
              <a:rPr dirty="0"/>
              <a:t>*:</a:t>
            </a:r>
            <a:r>
              <a:rPr dirty="0" err="1"/>
              <a:t>egovframework</a:t>
            </a:r>
            <a:r>
              <a:rPr dirty="0"/>
              <a:t>/spring/context-*.xml</a:t>
            </a:r>
          </a:p>
          <a:p>
            <a:pPr>
              <a:defRPr sz="1800"/>
            </a:pPr>
            <a:r>
              <a:rPr dirty="0" err="1"/>
              <a:t>ContextLoaderListener</a:t>
            </a:r>
            <a:r>
              <a:rPr dirty="0"/>
              <a:t>: Root </a:t>
            </a:r>
            <a:r>
              <a:rPr dirty="0" err="1"/>
              <a:t>ApplicationContext</a:t>
            </a:r>
            <a:r>
              <a:rPr dirty="0"/>
              <a:t> </a:t>
            </a:r>
            <a:r>
              <a:rPr dirty="0" err="1"/>
              <a:t>로딩</a:t>
            </a:r>
            <a:endParaRPr dirty="0"/>
          </a:p>
          <a:p>
            <a:pPr>
              <a:defRPr sz="1800"/>
            </a:pPr>
            <a:r>
              <a:rPr dirty="0" err="1"/>
              <a:t>DispatcherServlet</a:t>
            </a:r>
            <a:r>
              <a:rPr dirty="0"/>
              <a:t>(</a:t>
            </a:r>
            <a:r>
              <a:rPr dirty="0" err="1"/>
              <a:t>url</a:t>
            </a:r>
            <a:r>
              <a:rPr dirty="0"/>
              <a:t>-pattern /): Spring MVC </a:t>
            </a:r>
            <a:r>
              <a:rPr dirty="0" err="1"/>
              <a:t>프론트</a:t>
            </a:r>
            <a:r>
              <a:rPr dirty="0"/>
              <a:t> </a:t>
            </a:r>
            <a:r>
              <a:rPr dirty="0" err="1"/>
              <a:t>컨트롤러</a:t>
            </a:r>
            <a:endParaRPr dirty="0"/>
          </a:p>
          <a:p>
            <a:pPr>
              <a:defRPr sz="1800"/>
            </a:pPr>
            <a:r>
              <a:rPr dirty="0"/>
              <a:t>welcome-file: </a:t>
            </a:r>
            <a:r>
              <a:rPr dirty="0" err="1"/>
              <a:t>index.jsp</a:t>
            </a:r>
            <a:r>
              <a:rPr dirty="0"/>
              <a:t> → / 로 </a:t>
            </a:r>
            <a:r>
              <a:rPr dirty="0" err="1"/>
              <a:t>포워드</a:t>
            </a:r>
            <a:r>
              <a:rPr dirty="0"/>
              <a:t> 등</a:t>
            </a:r>
          </a:p>
        </p:txBody>
      </p:sp>
    </p:spTree>
    <p:extLst>
      <p:ext uri="{BB962C8B-B14F-4D97-AF65-F5344CB8AC3E}">
        <p14:creationId xmlns:p14="http://schemas.microsoft.com/office/powerpoint/2010/main" val="2599659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web.xml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CharacterEncodingFilter</a:t>
            </a:r>
            <a:r>
              <a:rPr dirty="0"/>
              <a:t>: *.do </a:t>
            </a:r>
            <a:r>
              <a:rPr dirty="0" err="1"/>
              <a:t>요청</a:t>
            </a:r>
            <a:r>
              <a:rPr dirty="0"/>
              <a:t> UTF-8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D6BCA3-84DB-403A-8CEF-8050E9C2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1414462"/>
            <a:ext cx="9365949" cy="29175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web.xml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contextConfigLocation</a:t>
            </a:r>
            <a:r>
              <a:rPr dirty="0"/>
              <a:t>: </a:t>
            </a:r>
            <a:r>
              <a:rPr dirty="0" err="1"/>
              <a:t>classpath</a:t>
            </a:r>
            <a:r>
              <a:rPr dirty="0"/>
              <a:t>*:</a:t>
            </a:r>
            <a:r>
              <a:rPr dirty="0" err="1"/>
              <a:t>egovframework</a:t>
            </a:r>
            <a:r>
              <a:rPr dirty="0"/>
              <a:t>/spring/context-*.xml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E950FD-C582-44FB-8EC4-7455162A0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" y="1483994"/>
            <a:ext cx="7223080" cy="9277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29EFF7-2A73-40AF-8672-F81C9FDE2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47" y="1947861"/>
            <a:ext cx="2915603" cy="367951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BF73AA9-5598-4629-A6AA-4282EE4D993D}"/>
              </a:ext>
            </a:extLst>
          </p:cNvPr>
          <p:cNvSpPr/>
          <p:nvPr/>
        </p:nvSpPr>
        <p:spPr>
          <a:xfrm>
            <a:off x="8629650" y="3303270"/>
            <a:ext cx="2171700" cy="19316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B67F709-7AEC-4F94-B61D-04501183E715}"/>
              </a:ext>
            </a:extLst>
          </p:cNvPr>
          <p:cNvCxnSpPr>
            <a:cxnSpLocks/>
            <a:stCxn id="14" idx="2"/>
            <a:endCxn id="10" idx="1"/>
          </p:cNvCxnSpPr>
          <p:nvPr/>
        </p:nvCxnSpPr>
        <p:spPr>
          <a:xfrm rot="16200000" flipH="1">
            <a:off x="5395505" y="1034959"/>
            <a:ext cx="2097405" cy="43708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F3DE9B-A472-4BC9-A7C8-0EF2ABDD1554}"/>
              </a:ext>
            </a:extLst>
          </p:cNvPr>
          <p:cNvSpPr/>
          <p:nvPr/>
        </p:nvSpPr>
        <p:spPr>
          <a:xfrm>
            <a:off x="845820" y="1905003"/>
            <a:ext cx="6825887" cy="2666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056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web.xml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DispatcherServlet</a:t>
            </a:r>
            <a:r>
              <a:rPr dirty="0"/>
              <a:t>(</a:t>
            </a:r>
            <a:r>
              <a:rPr dirty="0" err="1"/>
              <a:t>url</a:t>
            </a:r>
            <a:r>
              <a:rPr dirty="0"/>
              <a:t>-pattern /): Spring MVC </a:t>
            </a:r>
            <a:r>
              <a:rPr dirty="0" err="1"/>
              <a:t>프론트</a:t>
            </a:r>
            <a:r>
              <a:rPr dirty="0"/>
              <a:t> </a:t>
            </a:r>
            <a:r>
              <a:rPr dirty="0" err="1"/>
              <a:t>컨트롤러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11F1F-52C2-4FCF-94AB-0F257C4CB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1499234"/>
            <a:ext cx="9172993" cy="19297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4E79FD-DDA7-492F-937F-054738A5F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004" y="2946329"/>
            <a:ext cx="3537585" cy="319400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7DC533E-E817-4359-996F-64197374B0F9}"/>
              </a:ext>
            </a:extLst>
          </p:cNvPr>
          <p:cNvSpPr/>
          <p:nvPr/>
        </p:nvSpPr>
        <p:spPr>
          <a:xfrm>
            <a:off x="1177290" y="2464116"/>
            <a:ext cx="8357209" cy="3213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D6A3AF-73F8-4C33-8FC3-5C6A18045BB8}"/>
              </a:ext>
            </a:extLst>
          </p:cNvPr>
          <p:cNvSpPr/>
          <p:nvPr/>
        </p:nvSpPr>
        <p:spPr>
          <a:xfrm>
            <a:off x="7475219" y="4491990"/>
            <a:ext cx="2960369" cy="1177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175A833-043E-4790-846F-34193A0DAC96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5267959" y="2873375"/>
            <a:ext cx="2295196" cy="211932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703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properties · Spring context · sql-mapper-config.xml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106BA0B-6274-45B1-A034-7E4D1042E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27094"/>
              </p:ext>
            </p:extLst>
          </p:nvPr>
        </p:nvGraphicFramePr>
        <p:xfrm>
          <a:off x="361950" y="914400"/>
          <a:ext cx="11530013" cy="502920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598420">
                  <a:extLst>
                    <a:ext uri="{9D8B030D-6E8A-4147-A177-3AD203B41FA5}">
                      <a16:colId xmlns:a16="http://schemas.microsoft.com/office/drawing/2014/main" val="1213555531"/>
                    </a:ext>
                  </a:extLst>
                </a:gridCol>
                <a:gridCol w="8931593">
                  <a:extLst>
                    <a:ext uri="{9D8B030D-6E8A-4147-A177-3AD203B41FA5}">
                      <a16:colId xmlns:a16="http://schemas.microsoft.com/office/drawing/2014/main" val="390190184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2000" dirty="0">
                          <a:effectLst/>
                        </a:rPr>
                        <a:t>파일</a:t>
                      </a:r>
                      <a:endParaRPr lang="ko-KR" sz="20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2000" dirty="0">
                          <a:effectLst/>
                        </a:rPr>
                        <a:t>주요 역할</a:t>
                      </a:r>
                      <a:endParaRPr lang="ko-KR" sz="20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296166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context-properties.xml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database.properties</a:t>
                      </a:r>
                      <a:r>
                        <a:rPr lang="en-US" sz="1600" dirty="0">
                          <a:effectLst/>
                        </a:rPr>
                        <a:t>·~/.</a:t>
                      </a:r>
                      <a:r>
                        <a:rPr lang="en-US" sz="1600" dirty="0" err="1">
                          <a:effectLst/>
                        </a:rPr>
                        <a:t>webblog</a:t>
                      </a:r>
                      <a:r>
                        <a:rPr lang="en-US" sz="1600" dirty="0">
                          <a:effectLst/>
                        </a:rPr>
                        <a:t>/</a:t>
                      </a:r>
                      <a:r>
                        <a:rPr lang="en-US" sz="1600" dirty="0" err="1">
                          <a:effectLst/>
                        </a:rPr>
                        <a:t>database.properties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로드</a:t>
                      </a:r>
                      <a:r>
                        <a:rPr lang="en-US" sz="1600" dirty="0">
                          <a:effectLst/>
                        </a:rPr>
                        <a:t>, db.* </a:t>
                      </a:r>
                      <a:r>
                        <a:rPr lang="zh-CN" sz="1600" dirty="0">
                          <a:effectLst/>
                        </a:rPr>
                        <a:t>치환 준비</a:t>
                      </a:r>
                      <a:r>
                        <a:rPr lang="en-US" sz="1600" dirty="0">
                          <a:effectLst/>
                        </a:rPr>
                        <a:t>. </a:t>
                      </a:r>
                      <a:r>
                        <a:rPr lang="en-US" sz="1600" dirty="0" err="1">
                          <a:effectLst/>
                        </a:rPr>
                        <a:t>eGov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propertiesService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페이지 단위 등 샘플용 맵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428642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context-datasource.xml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dataSource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빈</a:t>
                      </a:r>
                      <a:r>
                        <a:rPr lang="en-US" sz="1600" dirty="0">
                          <a:effectLst/>
                        </a:rPr>
                        <a:t>(DBCP2). WEBBLOG_DB_* </a:t>
                      </a:r>
                      <a:r>
                        <a:rPr lang="zh-CN" sz="1600" dirty="0">
                          <a:effectLst/>
                        </a:rPr>
                        <a:t>환경변수와 </a:t>
                      </a:r>
                      <a:r>
                        <a:rPr lang="en-US" sz="1600" dirty="0">
                          <a:effectLst/>
                        </a:rPr>
                        <a:t>db.* </a:t>
                      </a:r>
                      <a:r>
                        <a:rPr lang="zh-CN" sz="1600" dirty="0">
                          <a:effectLst/>
                        </a:rPr>
                        <a:t>조합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55765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context-common.xml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egovframework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com.ylove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패키지 스캔</a:t>
                      </a:r>
                      <a:r>
                        <a:rPr lang="en-US" sz="1600" dirty="0">
                          <a:effectLst/>
                        </a:rPr>
                        <a:t>(@Controller </a:t>
                      </a:r>
                      <a:r>
                        <a:rPr lang="zh-CN" sz="1600" dirty="0">
                          <a:effectLst/>
                        </a:rPr>
                        <a:t>제외</a:t>
                      </a:r>
                      <a:r>
                        <a:rPr lang="en-US" sz="1600" dirty="0">
                          <a:effectLst/>
                        </a:rPr>
                        <a:t>). </a:t>
                      </a:r>
                      <a:r>
                        <a:rPr lang="en-US" sz="1600" dirty="0" err="1">
                          <a:effectLst/>
                        </a:rPr>
                        <a:t>messageSource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eGov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추적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en-US" sz="1600" dirty="0" err="1">
                          <a:effectLst/>
                        </a:rPr>
                        <a:t>LeaveaTrace</a:t>
                      </a:r>
                      <a:r>
                        <a:rPr lang="en-US" sz="1600" dirty="0">
                          <a:effectLst/>
                        </a:rPr>
                        <a:t>) </a:t>
                      </a:r>
                      <a:r>
                        <a:rPr lang="zh-CN" sz="1600" dirty="0">
                          <a:effectLst/>
                        </a:rPr>
                        <a:t>빈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839366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context-mapper.xml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MyBatis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SqlSessionFactoryBean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mapperLocations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MapperConfigurer</a:t>
                      </a:r>
                      <a:r>
                        <a:rPr lang="zh-CN" sz="1600" dirty="0">
                          <a:effectLst/>
                        </a:rPr>
                        <a:t>로 </a:t>
                      </a:r>
                      <a:r>
                        <a:rPr lang="en-US" sz="1600" dirty="0" err="1">
                          <a:effectLst/>
                        </a:rPr>
                        <a:t>com.ylove.mapper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인터페이스와</a:t>
                      </a:r>
                      <a:r>
                        <a:rPr lang="en-US" sz="1600" dirty="0">
                          <a:effectLst/>
                        </a:rPr>
                        <a:t> XML </a:t>
                      </a:r>
                      <a:r>
                        <a:rPr lang="zh-CN" sz="1600" dirty="0">
                          <a:effectLst/>
                        </a:rPr>
                        <a:t>매핑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509049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context-transaction.xml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DataSourceTransactionManager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tx:advice</a:t>
                      </a:r>
                      <a:r>
                        <a:rPr lang="en-US" sz="1600" dirty="0">
                          <a:effectLst/>
                        </a:rPr>
                        <a:t>, com.</a:t>
                      </a:r>
                      <a:r>
                        <a:rPr lang="en-US" sz="1600" dirty="0" err="1">
                          <a:effectLst/>
                        </a:rPr>
                        <a:t>ylove</a:t>
                      </a:r>
                      <a:r>
                        <a:rPr lang="en-US" sz="1600" dirty="0">
                          <a:effectLst/>
                        </a:rPr>
                        <a:t>..</a:t>
                      </a:r>
                      <a:r>
                        <a:rPr lang="en-US" sz="1600" dirty="0" err="1">
                          <a:effectLst/>
                        </a:rPr>
                        <a:t>impl</a:t>
                      </a:r>
                      <a:r>
                        <a:rPr lang="en-US" sz="1600" dirty="0">
                          <a:effectLst/>
                        </a:rPr>
                        <a:t>.*</a:t>
                      </a:r>
                      <a:r>
                        <a:rPr lang="en-US" sz="1600" dirty="0" err="1">
                          <a:effectLst/>
                        </a:rPr>
                        <a:t>Impl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메서드에 트랜잭션</a:t>
                      </a:r>
                      <a:r>
                        <a:rPr lang="en-US" sz="1600" dirty="0">
                          <a:effectLst/>
                        </a:rPr>
                        <a:t> AOP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57642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context-aspect.xml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eGov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ExceptionTransfer</a:t>
                      </a:r>
                      <a:r>
                        <a:rPr lang="en-US" sz="1600" dirty="0">
                          <a:effectLst/>
                        </a:rPr>
                        <a:t> AOP. </a:t>
                      </a:r>
                      <a:r>
                        <a:rPr lang="zh-CN" sz="1600" dirty="0">
                          <a:effectLst/>
                        </a:rPr>
                        <a:t>포인트컷이 </a:t>
                      </a:r>
                      <a:r>
                        <a:rPr lang="en-US" sz="1600" dirty="0">
                          <a:effectLst/>
                        </a:rPr>
                        <a:t>egovframework.example..</a:t>
                      </a:r>
                      <a:r>
                        <a:rPr lang="en-US" sz="1600" dirty="0" err="1">
                          <a:effectLst/>
                        </a:rPr>
                        <a:t>impl</a:t>
                      </a:r>
                      <a:r>
                        <a:rPr lang="en-US" sz="1600" dirty="0">
                          <a:effectLst/>
                        </a:rPr>
                        <a:t>.*</a:t>
                      </a:r>
                      <a:r>
                        <a:rPr lang="en-US" sz="1600" dirty="0" err="1">
                          <a:effectLst/>
                        </a:rPr>
                        <a:t>Impl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한정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샘플</a:t>
                      </a:r>
                      <a:r>
                        <a:rPr lang="en-US" sz="1600" dirty="0">
                          <a:effectLst/>
                        </a:rPr>
                        <a:t>). </a:t>
                      </a:r>
                      <a:r>
                        <a:rPr lang="en-US" sz="1600" dirty="0" err="1">
                          <a:effectLst/>
                        </a:rPr>
                        <a:t>com.ylove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서비스에는 기본 적용되지 않음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776762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context-idgen.xml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eGov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표준</a:t>
                      </a:r>
                      <a:r>
                        <a:rPr lang="en-US" sz="1600" dirty="0">
                          <a:effectLst/>
                        </a:rPr>
                        <a:t> ID </a:t>
                      </a:r>
                      <a:r>
                        <a:rPr lang="zh-CN" sz="1600" dirty="0">
                          <a:effectLst/>
                        </a:rPr>
                        <a:t>생성</a:t>
                      </a:r>
                      <a:r>
                        <a:rPr lang="en-US" sz="1600" dirty="0">
                          <a:effectLst/>
                        </a:rPr>
                        <a:t>(IDS </a:t>
                      </a:r>
                      <a:r>
                        <a:rPr lang="zh-CN" sz="1600" dirty="0">
                          <a:effectLst/>
                        </a:rPr>
                        <a:t>테이블</a:t>
                      </a:r>
                      <a:r>
                        <a:rPr lang="en-US" sz="1600" dirty="0">
                          <a:effectLst/>
                        </a:rPr>
                        <a:t>·SAMPLE </a:t>
                      </a:r>
                      <a:r>
                        <a:rPr lang="zh-CN" sz="1600" dirty="0">
                          <a:effectLst/>
                        </a:rPr>
                        <a:t>등</a:t>
                      </a:r>
                      <a:r>
                        <a:rPr lang="en-US" sz="1600" dirty="0">
                          <a:effectLst/>
                        </a:rPr>
                        <a:t>). </a:t>
                      </a:r>
                      <a:r>
                        <a:rPr lang="zh-CN" sz="1600" dirty="0">
                          <a:effectLst/>
                        </a:rPr>
                        <a:t>샘플 연동용</a:t>
                      </a:r>
                      <a:r>
                        <a:rPr lang="en-US" sz="1600" dirty="0">
                          <a:effectLst/>
                        </a:rPr>
                        <a:t>. </a:t>
                      </a:r>
                      <a:r>
                        <a:rPr lang="zh-CN" sz="1600" dirty="0">
                          <a:effectLst/>
                        </a:rPr>
                        <a:t>블로그 테이블은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MyBatis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useGeneratedKeys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zh-CN" sz="1600" dirty="0">
                          <a:effectLst/>
                        </a:rPr>
                        <a:t>위주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37858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context-validator.xml</a:t>
                      </a:r>
                      <a:endParaRPr lang="ko-KR" sz="20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Commons Validator </a:t>
                      </a:r>
                      <a:r>
                        <a:rPr lang="zh-CN" sz="1600" dirty="0">
                          <a:effectLst/>
                        </a:rPr>
                        <a:t>연동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en-US" sz="1600" dirty="0" err="1">
                          <a:effectLst/>
                        </a:rPr>
                        <a:t>beanValidator</a:t>
                      </a:r>
                      <a:r>
                        <a:rPr lang="en-US" sz="1600" dirty="0">
                          <a:effectLst/>
                        </a:rPr>
                        <a:t>, validator-rules.xml, validator.xml). </a:t>
                      </a:r>
                      <a:r>
                        <a:rPr lang="zh-CN" sz="1600" dirty="0">
                          <a:effectLst/>
                        </a:rPr>
                        <a:t>샘플</a:t>
                      </a:r>
                      <a:r>
                        <a:rPr lang="en-US" sz="1600" dirty="0">
                          <a:effectLst/>
                        </a:rPr>
                        <a:t> JSP </a:t>
                      </a:r>
                      <a:r>
                        <a:rPr lang="zh-CN" sz="1600" dirty="0">
                          <a:effectLst/>
                        </a:rPr>
                        <a:t>검증 등에 사용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05595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properties · Spring context · sql-mapper-config.xml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dirty="0" err="1"/>
              <a:t>egovframework</a:t>
            </a:r>
            <a:r>
              <a:rPr dirty="0"/>
              <a:t>/properties/</a:t>
            </a:r>
            <a:r>
              <a:rPr dirty="0" err="1"/>
              <a:t>database.properties</a:t>
            </a:r>
            <a:r>
              <a:rPr dirty="0"/>
              <a:t>: db.url, username, password</a:t>
            </a:r>
            <a:endParaRPr lang="en-US" dirty="0"/>
          </a:p>
          <a:p>
            <a:pPr>
              <a:defRPr sz="1800"/>
            </a:pPr>
            <a:r>
              <a:rPr lang="en-US" altLang="ko-KR" dirty="0"/>
              <a:t>context-datasource.xml: </a:t>
            </a: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빈 → </a:t>
            </a:r>
            <a:r>
              <a:rPr lang="en-US" altLang="ko-KR" dirty="0"/>
              <a:t>DBCP2 </a:t>
            </a:r>
            <a:r>
              <a:rPr lang="en-US" altLang="ko-KR" dirty="0" err="1"/>
              <a:t>BasicDataSource</a:t>
            </a:r>
            <a:endParaRPr lang="en-US" altLang="ko-KR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altLang="ko-KR" dirty="0"/>
          </a:p>
          <a:p>
            <a:pPr>
              <a:defRPr sz="1800"/>
            </a:pPr>
            <a:endParaRPr lang="en-US" altLang="ko-KR" dirty="0"/>
          </a:p>
          <a:p>
            <a:pPr>
              <a:defRPr sz="1800"/>
            </a:pPr>
            <a:endParaRPr lang="en-US" altLang="ko-KR" dirty="0"/>
          </a:p>
          <a:p>
            <a:pPr>
              <a:defRPr sz="1800"/>
            </a:pPr>
            <a:endParaRPr lang="en-US" altLang="ko-KR" dirty="0"/>
          </a:p>
          <a:p>
            <a:pPr>
              <a:defRPr sz="1800"/>
            </a:pPr>
            <a:endParaRPr lang="en-US" altLang="ko-KR" dirty="0"/>
          </a:p>
          <a:p>
            <a:pPr>
              <a:defRPr sz="1800"/>
            </a:pPr>
            <a:r>
              <a:rPr lang="ko-KR" altLang="en-US" dirty="0"/>
              <a:t>윈도우에서는 배치 파일을 만들어 윈도우에 환경변수를 적용한다</a:t>
            </a:r>
            <a:r>
              <a:rPr lang="en-US" altLang="ko-KR" dirty="0"/>
              <a:t>. </a:t>
            </a:r>
          </a:p>
          <a:p>
            <a:pPr>
              <a:defRPr sz="1800"/>
            </a:pPr>
            <a:r>
              <a:rPr lang="ko-KR" altLang="en-US" dirty="0"/>
              <a:t>리눅스는 쉘에 등록 하여 적용한다</a:t>
            </a:r>
            <a:r>
              <a:rPr lang="en-US" altLang="ko-KR" dirty="0"/>
              <a:t>.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1085AB-673E-4EB2-BD33-DB58D413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579042"/>
            <a:ext cx="9440908" cy="17545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F86EA5-4A65-4709-837A-230A0C368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3376042"/>
            <a:ext cx="8656352" cy="192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4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9903F-821F-41B8-A853-A7C428EF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환경변수 설정</a:t>
            </a:r>
            <a:r>
              <a:rPr lang="en-US" altLang="ko-KR" dirty="0"/>
              <a:t>-</a:t>
            </a:r>
            <a:r>
              <a:rPr lang="ko-KR" altLang="en-US" dirty="0"/>
              <a:t>아파치 </a:t>
            </a:r>
            <a:r>
              <a:rPr lang="ko-KR" altLang="en-US" dirty="0" err="1"/>
              <a:t>톰켓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4F5C4D-BC3F-4F8D-999D-B73804277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0" y="1038003"/>
            <a:ext cx="2667000" cy="571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541C0C-DCCF-46F5-9BAE-0099D791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50" y="2115103"/>
            <a:ext cx="3171825" cy="40100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A966B6-27ED-48D5-9603-E84A2043B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472" y="1038003"/>
            <a:ext cx="4933950" cy="2209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9082F5-8EF1-465F-8B47-A1AF83730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472" y="3844666"/>
            <a:ext cx="6848475" cy="15716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A387CA-75F3-4DC5-9360-A82A867B7114}"/>
              </a:ext>
            </a:extLst>
          </p:cNvPr>
          <p:cNvSpPr txBox="1"/>
          <p:nvPr/>
        </p:nvSpPr>
        <p:spPr>
          <a:xfrm>
            <a:off x="361507" y="1677637"/>
            <a:ext cx="247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 클릭하여 </a:t>
            </a:r>
            <a:r>
              <a:rPr lang="en-US" altLang="ko-KR" dirty="0"/>
              <a:t>Open </a:t>
            </a:r>
            <a:r>
              <a:rPr lang="ko-KR" altLang="en-US" dirty="0"/>
              <a:t>선택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5B45ED-AB4E-48D0-81C7-6E18D396BBB1}"/>
              </a:ext>
            </a:extLst>
          </p:cNvPr>
          <p:cNvSpPr/>
          <p:nvPr/>
        </p:nvSpPr>
        <p:spPr>
          <a:xfrm>
            <a:off x="365050" y="2286000"/>
            <a:ext cx="3171825" cy="3508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684660-2733-4030-96E1-12F83C3F85BB}"/>
              </a:ext>
            </a:extLst>
          </p:cNvPr>
          <p:cNvSpPr/>
          <p:nvPr/>
        </p:nvSpPr>
        <p:spPr>
          <a:xfrm>
            <a:off x="4022650" y="2896929"/>
            <a:ext cx="3171825" cy="3508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2D6640F-AC0F-4577-8A1E-18FB3E6436CA}"/>
              </a:ext>
            </a:extLst>
          </p:cNvPr>
          <p:cNvCxnSpPr>
            <a:stCxn id="12" idx="0"/>
            <a:endCxn id="8" idx="1"/>
          </p:cNvCxnSpPr>
          <p:nvPr/>
        </p:nvCxnSpPr>
        <p:spPr>
          <a:xfrm rot="5400000" flipH="1" flipV="1">
            <a:off x="2856669" y="1237198"/>
            <a:ext cx="143097" cy="1954509"/>
          </a:xfrm>
          <a:prstGeom prst="bentConnector2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9BF50ED-12BA-48EB-A18D-2B449472CE4F}"/>
              </a:ext>
            </a:extLst>
          </p:cNvPr>
          <p:cNvCxnSpPr>
            <a:stCxn id="13" idx="2"/>
            <a:endCxn id="10" idx="0"/>
          </p:cNvCxnSpPr>
          <p:nvPr/>
        </p:nvCxnSpPr>
        <p:spPr>
          <a:xfrm rot="16200000" flipH="1">
            <a:off x="6170705" y="2685660"/>
            <a:ext cx="596863" cy="1721147"/>
          </a:xfrm>
          <a:prstGeom prst="bentConnector3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8B2268-BABD-43C1-8848-E6B1C55ADDC5}"/>
              </a:ext>
            </a:extLst>
          </p:cNvPr>
          <p:cNvSpPr txBox="1"/>
          <p:nvPr/>
        </p:nvSpPr>
        <p:spPr>
          <a:xfrm>
            <a:off x="7545114" y="3182419"/>
            <a:ext cx="311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Environment</a:t>
            </a:r>
            <a:r>
              <a:rPr lang="ko-KR" altLang="en-US" dirty="0"/>
              <a:t>에 추가하여 적용</a:t>
            </a:r>
          </a:p>
        </p:txBody>
      </p:sp>
    </p:spTree>
    <p:extLst>
      <p:ext uri="{BB962C8B-B14F-4D97-AF65-F5344CB8AC3E}">
        <p14:creationId xmlns:p14="http://schemas.microsoft.com/office/powerpoint/2010/main" val="36171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B5463-6EAA-4136-98DF-1A84EEC714D8}"/>
              </a:ext>
            </a:extLst>
          </p:cNvPr>
          <p:cNvSpPr txBox="1"/>
          <p:nvPr/>
        </p:nvSpPr>
        <p:spPr>
          <a:xfrm>
            <a:off x="358140" y="1288934"/>
            <a:ext cx="11475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@echo off</a:t>
            </a:r>
          </a:p>
          <a:p>
            <a:r>
              <a:rPr lang="en-US" altLang="ko-KR" sz="1400" dirty="0"/>
              <a:t>REM </a:t>
            </a:r>
            <a:r>
              <a:rPr lang="ko-KR" altLang="en-US" sz="1400" dirty="0"/>
              <a:t>환경 변수 설정 예시 스크립트 </a:t>
            </a:r>
            <a:r>
              <a:rPr lang="en-US" altLang="ko-KR" sz="1400" dirty="0"/>
              <a:t>(Windows)</a:t>
            </a:r>
          </a:p>
          <a:p>
            <a:r>
              <a:rPr lang="en-US" altLang="ko-KR" sz="1400" dirty="0"/>
              <a:t>REM </a:t>
            </a:r>
            <a:r>
              <a:rPr lang="ko-KR" altLang="en-US" sz="1400" dirty="0"/>
              <a:t>프로덕션 서버에서 이 스크립트를 실행하거나</a:t>
            </a:r>
            <a:r>
              <a:rPr lang="en-US" altLang="ko-KR" sz="1400" dirty="0"/>
              <a:t>, </a:t>
            </a:r>
            <a:r>
              <a:rPr lang="ko-KR" altLang="en-US" sz="1400" dirty="0"/>
              <a:t>환경 변수를 직접 설정하세요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REM ⚠️ </a:t>
            </a:r>
            <a:r>
              <a:rPr lang="ko-KR" altLang="en-US" sz="1400" dirty="0"/>
              <a:t>주의</a:t>
            </a:r>
            <a:r>
              <a:rPr lang="en-US" altLang="ko-KR" sz="1400" dirty="0"/>
              <a:t>: </a:t>
            </a:r>
            <a:r>
              <a:rPr lang="ko-KR" altLang="en-US" sz="1400" dirty="0"/>
              <a:t>실제 비밀번호와 키로 변경하세요</a:t>
            </a:r>
            <a:r>
              <a:rPr lang="en-US" altLang="ko-KR" sz="1400" dirty="0"/>
              <a:t>!</a:t>
            </a:r>
          </a:p>
          <a:p>
            <a:endParaRPr lang="en-US" altLang="ko-KR" sz="1400" dirty="0"/>
          </a:p>
          <a:p>
            <a:r>
              <a:rPr lang="en-US" altLang="ko-KR" sz="1400" dirty="0"/>
              <a:t>REM </a:t>
            </a:r>
            <a:r>
              <a:rPr lang="ko-KR" altLang="en-US" sz="1400" dirty="0"/>
              <a:t>데이터베이스 설정</a:t>
            </a:r>
            <a:endParaRPr lang="en-US" altLang="ko-KR" sz="1400" dirty="0"/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WEBBLOG_DB_JDBC_URL=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jdbc:mariadb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://127.0.0.1:3306/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pub_blog?useUnicode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=true^&amp;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characterEncoding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=UTF-8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※ CMD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`&amp;`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특수문자이므로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에 포함할 때는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`^&amp;`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이스케이프하거나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값 전체를 따옴표로 감쌉니다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WEBBLOG_DB_USERNAME=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pub_blog_users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WEBBLOG_DB_PASSWORD=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여기에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비밀번호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카카오 인증 키 설정</a:t>
            </a: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KAKAO_REST_API_KEY=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실제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_REST_API_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키</a:t>
            </a:r>
          </a:p>
          <a:p>
            <a:endParaRPr lang="en-US" altLang="ko-KR" sz="1400" dirty="0"/>
          </a:p>
          <a:p>
            <a:r>
              <a:rPr lang="en-US" altLang="ko-KR" sz="1400" dirty="0"/>
              <a:t>echo </a:t>
            </a:r>
            <a:r>
              <a:rPr lang="ko-KR" altLang="en-US" sz="1400" dirty="0"/>
              <a:t>환경 변수 설정 완료</a:t>
            </a:r>
            <a:r>
              <a:rPr lang="en-US" altLang="ko-KR" sz="1400" dirty="0"/>
              <a:t>!</a:t>
            </a:r>
          </a:p>
          <a:p>
            <a:r>
              <a:rPr lang="en-US" altLang="ko-KR" sz="1400" dirty="0"/>
              <a:t>echo </a:t>
            </a:r>
            <a:r>
              <a:rPr lang="ko-KR" altLang="en-US" sz="1400" dirty="0"/>
              <a:t>애플리케이션을 시작하세요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7037D9-4289-4919-8B4F-377E8FAA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환경변수 설정</a:t>
            </a:r>
            <a:r>
              <a:rPr lang="en-US" altLang="ko-KR" dirty="0"/>
              <a:t>-</a:t>
            </a:r>
            <a:r>
              <a:rPr lang="ko-KR" altLang="en-US" dirty="0"/>
              <a:t>윈도우 배치파일로 적용</a:t>
            </a:r>
          </a:p>
        </p:txBody>
      </p:sp>
    </p:spTree>
    <p:extLst>
      <p:ext uri="{BB962C8B-B14F-4D97-AF65-F5344CB8AC3E}">
        <p14:creationId xmlns:p14="http://schemas.microsoft.com/office/powerpoint/2010/main" val="2505925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B5463-6EAA-4136-98DF-1A84EEC714D8}"/>
              </a:ext>
            </a:extLst>
          </p:cNvPr>
          <p:cNvSpPr txBox="1"/>
          <p:nvPr/>
        </p:nvSpPr>
        <p:spPr>
          <a:xfrm>
            <a:off x="388620" y="969957"/>
            <a:ext cx="114757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sudo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 nano ~/.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bashrc</a:t>
            </a:r>
            <a:endParaRPr lang="en-US" altLang="ko-KR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끝 부분에 추가</a:t>
            </a:r>
            <a:endParaRPr lang="en-US" altLang="ko-KR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WEBBLOG_DB_JDBC_URL=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jdbc:mariadb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://127.0.0.1:3306/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pub_blog?useUnicode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true&amp;characterEncoding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=UTF-8＇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WEBBLOG_DB_USERNAME=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pub_blog_users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WEBBLOG_DB_PASSWORD=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여기에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비밀번호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선택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WEBBLOG_DB_DRIVER=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＇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org.mariadb.jdbc.Driver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dirty="0"/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KAKAO_REST_API_KEY=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실제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_REST_API_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환경적용</a:t>
            </a:r>
            <a:endParaRPr lang="en-US" altLang="ko-KR" sz="1400" dirty="0"/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source ~/.</a:t>
            </a:r>
            <a:r>
              <a:rPr lang="en-US" altLang="ko-KR" sz="1400" dirty="0" err="1"/>
              <a:t>bashrc</a:t>
            </a:r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ADE106-7CBC-4889-A180-F796596B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환경변수 설정</a:t>
            </a:r>
            <a:r>
              <a:rPr lang="en-US" altLang="ko-KR" dirty="0"/>
              <a:t>-</a:t>
            </a:r>
            <a:r>
              <a:rPr lang="ko-KR" altLang="en-US" dirty="0"/>
              <a:t>우분투</a:t>
            </a:r>
            <a:r>
              <a:rPr lang="en-US" altLang="ko-KR" dirty="0"/>
              <a:t>(</a:t>
            </a:r>
            <a:r>
              <a:rPr lang="ko-KR" altLang="en-US" dirty="0"/>
              <a:t>리눅스</a:t>
            </a:r>
            <a:r>
              <a:rPr lang="en-US" altLang="ko-KR" dirty="0"/>
              <a:t>) </a:t>
            </a:r>
            <a:r>
              <a:rPr lang="ko-KR" altLang="en-US" dirty="0"/>
              <a:t>쉘에 적용</a:t>
            </a:r>
          </a:p>
        </p:txBody>
      </p:sp>
    </p:spTree>
    <p:extLst>
      <p:ext uri="{BB962C8B-B14F-4D97-AF65-F5344CB8AC3E}">
        <p14:creationId xmlns:p14="http://schemas.microsoft.com/office/powerpoint/2010/main" val="3132611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properties · Spring context · sql-mapper-config.xml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sql-mapper-config.xml: </a:t>
            </a:r>
            <a:r>
              <a:rPr dirty="0" err="1"/>
              <a:t>MyBatis</a:t>
            </a:r>
            <a:r>
              <a:rPr dirty="0"/>
              <a:t> </a:t>
            </a:r>
            <a:r>
              <a:rPr dirty="0" err="1"/>
              <a:t>typeAlias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(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C2EFA6-A3C5-4FCE-BD19-16504D626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372552"/>
            <a:ext cx="9846179" cy="26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23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properties · Spring context · sql-mapper-config.xml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C5CF38-E138-45D3-B4AC-872E60036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27" y="4237224"/>
            <a:ext cx="3250297" cy="15649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AC2A98-A086-44EE-9854-7FDB2865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381" y="4237224"/>
            <a:ext cx="3248989" cy="156495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28F0F0E-8315-4B70-A4F6-50AAAC59BCB9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308524" y="5019703"/>
            <a:ext cx="21808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CCD9AF-BDF2-4D66-8A3B-E972342FCB37}"/>
              </a:ext>
            </a:extLst>
          </p:cNvPr>
          <p:cNvSpPr txBox="1"/>
          <p:nvPr/>
        </p:nvSpPr>
        <p:spPr>
          <a:xfrm>
            <a:off x="361507" y="1034543"/>
            <a:ext cx="1083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Context-mapper.xml</a:t>
            </a:r>
            <a:r>
              <a:rPr lang="ko-KR" altLang="en-US" dirty="0"/>
              <a:t>에 정의한 </a:t>
            </a:r>
            <a:r>
              <a:rPr lang="ko-KR" altLang="en-US" dirty="0" err="1"/>
              <a:t>매퍼</a:t>
            </a:r>
            <a:r>
              <a:rPr lang="ko-KR" altLang="en-US" dirty="0"/>
              <a:t> 인터페이스 위치 정보에 존재하는 인터페이스 클래스와 </a:t>
            </a:r>
            <a:r>
              <a:rPr lang="en-US" altLang="ko-KR" dirty="0" err="1"/>
              <a:t>SQLSession</a:t>
            </a:r>
            <a:r>
              <a:rPr lang="ko-KR" altLang="en-US" dirty="0"/>
              <a:t> 정의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F553457-0201-401D-9A32-2548C8E4C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07" y="1644995"/>
            <a:ext cx="10178244" cy="235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91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dispatcher-servlet.xml · tiles.xml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dispatcher-servlet.xml: @Controller </a:t>
            </a:r>
            <a:r>
              <a:rPr dirty="0" err="1"/>
              <a:t>스캔</a:t>
            </a:r>
            <a:r>
              <a:rPr dirty="0"/>
              <a:t>(</a:t>
            </a:r>
            <a:r>
              <a:rPr dirty="0" err="1"/>
              <a:t>egovframework</a:t>
            </a:r>
            <a:r>
              <a:rPr dirty="0"/>
              <a:t>, </a:t>
            </a:r>
            <a:r>
              <a:rPr dirty="0" err="1"/>
              <a:t>com.ylove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TilesConfigurer</a:t>
            </a:r>
            <a:r>
              <a:rPr dirty="0"/>
              <a:t> + </a:t>
            </a:r>
            <a:r>
              <a:rPr dirty="0" err="1"/>
              <a:t>TilesViewResolver</a:t>
            </a:r>
            <a:r>
              <a:rPr dirty="0"/>
              <a:t>: home, auth/*, admin/*, blog/*, post/*</a:t>
            </a:r>
          </a:p>
          <a:p>
            <a:pPr>
              <a:defRPr sz="1800"/>
            </a:pPr>
            <a:r>
              <a:rPr dirty="0" err="1"/>
              <a:t>UrlBasedViewResolver</a:t>
            </a:r>
            <a:r>
              <a:rPr dirty="0"/>
              <a:t>(</a:t>
            </a:r>
            <a:r>
              <a:rPr dirty="0" err="1"/>
              <a:t>순서</a:t>
            </a:r>
            <a:r>
              <a:rPr dirty="0"/>
              <a:t> 2): </a:t>
            </a:r>
            <a:r>
              <a:rPr dirty="0" err="1"/>
              <a:t>샘플</a:t>
            </a:r>
            <a:r>
              <a:rPr dirty="0"/>
              <a:t> </a:t>
            </a:r>
            <a:r>
              <a:rPr dirty="0" err="1"/>
              <a:t>egovframework</a:t>
            </a:r>
            <a:r>
              <a:rPr dirty="0"/>
              <a:t>/example JSP </a:t>
            </a:r>
            <a:r>
              <a:rPr dirty="0" err="1"/>
              <a:t>경로</a:t>
            </a:r>
            <a:endParaRPr dirty="0"/>
          </a:p>
          <a:p>
            <a:pPr>
              <a:defRPr sz="1800"/>
            </a:pPr>
            <a:r>
              <a:rPr dirty="0" err="1"/>
              <a:t>LocaleChangeInterceptor</a:t>
            </a:r>
            <a:r>
              <a:rPr dirty="0"/>
              <a:t>,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SimpleMappingExceptionResolver</a:t>
            </a:r>
            <a:endParaRPr dirty="0"/>
          </a:p>
          <a:p>
            <a:pPr>
              <a:defRPr sz="1800"/>
            </a:pPr>
            <a:r>
              <a:rPr dirty="0" err="1"/>
              <a:t>MappedInterceptor</a:t>
            </a:r>
            <a:r>
              <a:rPr dirty="0"/>
              <a:t>: /admin/** → </a:t>
            </a:r>
            <a:r>
              <a:rPr dirty="0" err="1"/>
              <a:t>AdminAuthInterceptor</a:t>
            </a:r>
            <a:endParaRPr dirty="0"/>
          </a:p>
          <a:p>
            <a:pPr>
              <a:defRPr sz="1800"/>
            </a:pPr>
            <a:r>
              <a:rPr dirty="0"/>
              <a:t>tiles.xml: </a:t>
            </a:r>
            <a:r>
              <a:rPr dirty="0" err="1"/>
              <a:t>defaultLayout</a:t>
            </a:r>
            <a:r>
              <a:rPr dirty="0"/>
              <a:t> → header, menu, footer, body </a:t>
            </a:r>
            <a:r>
              <a:rPr dirty="0" err="1"/>
              <a:t>속성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dispatcher-servlet.xml · tiles.xml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71985" y="893763"/>
            <a:ext cx="11530012" cy="5407025"/>
          </a:xfrm>
        </p:spPr>
        <p:txBody>
          <a:bodyPr/>
          <a:lstStyle/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altLang="ko-KR" sz="1800" b="1" dirty="0">
                <a:solidFill>
                  <a:srgbClr val="0F476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dispatcher-servlet.xml</a:t>
            </a:r>
            <a:endParaRPr lang="ko-KR" altLang="ko-KR" sz="1800" b="1" dirty="0">
              <a:solidFill>
                <a:srgbClr val="0F4761"/>
              </a:solidFill>
              <a:effectLst/>
              <a:latin typeface="Aptos Display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파일 경로</a:t>
            </a:r>
            <a:endParaRPr lang="en-US" altLang="zh-CN" sz="1600" b="1" dirty="0"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src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/main/webapp/WEB-INF/config/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egovframework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/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springmvc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/dispatcher-servlet.xml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web.xml </a:t>
            </a: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연결</a:t>
            </a: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:</a:t>
            </a:r>
            <a:endParaRPr lang="en-US" altLang="ko-KR" sz="1600" b="1" dirty="0"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DispatcherServlet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(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서블릿 이름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action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)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의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init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-param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contextConfigLocation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에 위 파일이 지정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.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URL </a:t>
            </a: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매핑</a:t>
            </a:r>
            <a:endParaRPr lang="en-US" altLang="zh-CN" sz="1600" b="1" dirty="0"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같은 서블릿이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&lt;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url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-pattern&gt;/&lt;/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url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-pattern&gt;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이므로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,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정적 리소스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·JSP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제외 규칙을 제외하면 대부분의 요청이 이 설정을 따르는 </a:t>
            </a: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프론트 컨트롤러</a:t>
            </a:r>
            <a:r>
              <a:rPr lang="ko-KR" altLang="en-US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이다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.</a:t>
            </a: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Root Context</a:t>
            </a: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와의 관계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ContextLoaderListener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가 읽는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egovframework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/spring/context-*.xml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→ </a:t>
            </a: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Root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WebApplicationContext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(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서비스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, DB, </a:t>
            </a:r>
            <a:r>
              <a:rPr lang="en-US" altLang="ko-KR" sz="1600" dirty="0" err="1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MyBatis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등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).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DispatcherServlet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이 읽는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dispatcher-servlet.xml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→ </a:t>
            </a: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Servlet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WebApplicationContext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(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주로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@Controller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, MVC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인프라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).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서블릿 컨텍스트는 루트를 </a:t>
            </a: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부모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로 두므로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,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컨트롤러에서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@Resource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/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@Autowired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로 </a:t>
            </a:r>
            <a:r>
              <a:rPr lang="en-US" altLang="ko-KR" sz="16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userService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같은 </a:t>
            </a: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루트에 등록된 빈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을 주입할 수 있다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.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zh-CN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중복 스캔 방지</a:t>
            </a:r>
            <a:r>
              <a:rPr lang="en-US" altLang="ko-KR" sz="1600" b="1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: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루트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(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context-common.xml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)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는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@Controller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를 제외하고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, 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디스패처 쪽은 </a:t>
            </a:r>
            <a:r>
              <a:rPr lang="en-US" altLang="ko-KR" sz="16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Symbol" panose="05050102010706020507" pitchFamily="18" charset="2"/>
              </a:rPr>
              <a:t>@Controller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만 포함하도록 나</a:t>
            </a:r>
            <a:r>
              <a:rPr lang="ko-KR" altLang="en-US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눴</a:t>
            </a:r>
            <a:r>
              <a:rPr lang="zh-CN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다</a:t>
            </a:r>
            <a:r>
              <a:rPr lang="en-US" altLang="ko-KR" sz="1600" dirty="0">
                <a:effectLst/>
                <a:latin typeface="Aptos"/>
                <a:ea typeface="맑은 고딕" panose="020B0503020000020004" pitchFamily="50" charset="-127"/>
                <a:cs typeface="Symbol" panose="05050102010706020507" pitchFamily="18" charset="2"/>
              </a:rPr>
              <a:t>.</a:t>
            </a:r>
            <a:endParaRPr lang="ko-KR" altLang="ko-KR" sz="1600" dirty="0">
              <a:effectLst/>
              <a:latin typeface="Aptos"/>
              <a:ea typeface="맑은 고딕" panose="020B0503020000020004" pitchFamily="50" charset="-127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5899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dispatcher-servlet.xml · tiles.xml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67767D-71F9-446A-BFB7-AC17328C7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35314"/>
              </p:ext>
            </p:extLst>
          </p:nvPr>
        </p:nvGraphicFramePr>
        <p:xfrm>
          <a:off x="361950" y="971550"/>
          <a:ext cx="11530012" cy="523756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089910">
                  <a:extLst>
                    <a:ext uri="{9D8B030D-6E8A-4147-A177-3AD203B41FA5}">
                      <a16:colId xmlns:a16="http://schemas.microsoft.com/office/drawing/2014/main" val="1703008146"/>
                    </a:ext>
                  </a:extLst>
                </a:gridCol>
                <a:gridCol w="8440102">
                  <a:extLst>
                    <a:ext uri="{9D8B030D-6E8A-4147-A177-3AD203B41FA5}">
                      <a16:colId xmlns:a16="http://schemas.microsoft.com/office/drawing/2014/main" val="3990378047"/>
                    </a:ext>
                  </a:extLst>
                </a:gridCol>
              </a:tblGrid>
              <a:tr h="25039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 dirty="0">
                          <a:effectLst/>
                        </a:rPr>
                        <a:t>구역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 dirty="0">
                          <a:effectLst/>
                        </a:rPr>
                        <a:t>내용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1640520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>
                          <a:effectLst/>
                        </a:rPr>
                        <a:t>컴포넌트 스캔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egovframework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en-US" sz="1400">
                          <a:effectLst/>
                        </a:rPr>
                        <a:t>com.ylove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중 </a:t>
                      </a:r>
                      <a:r>
                        <a:rPr lang="en-US" sz="1400">
                          <a:effectLst/>
                        </a:rPr>
                        <a:t>@Controller</a:t>
                      </a:r>
                      <a:r>
                        <a:rPr lang="zh-CN" sz="1600">
                          <a:effectLst/>
                        </a:rPr>
                        <a:t>만 포함</a:t>
                      </a:r>
                      <a:r>
                        <a:rPr lang="en-US" sz="1600">
                          <a:effectLst/>
                        </a:rPr>
                        <a:t>. </a:t>
                      </a:r>
                      <a:r>
                        <a:rPr lang="en-US" sz="1400">
                          <a:effectLst/>
                        </a:rPr>
                        <a:t>@Service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en-US" sz="1400">
                          <a:effectLst/>
                        </a:rPr>
                        <a:t>@Repository</a:t>
                      </a:r>
                      <a:r>
                        <a:rPr lang="zh-CN" sz="1600">
                          <a:effectLst/>
                        </a:rPr>
                        <a:t>는 제외</a:t>
                      </a:r>
                      <a:r>
                        <a:rPr lang="en-US" sz="1600">
                          <a:effectLst/>
                        </a:rPr>
                        <a:t> → </a:t>
                      </a:r>
                      <a:r>
                        <a:rPr lang="zh-CN" sz="1600">
                          <a:effectLst/>
                        </a:rPr>
                        <a:t>비즈니스 빈은 루트에서만 관리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2484681"/>
                  </a:ext>
                </a:extLst>
              </a:tr>
              <a:tr h="2783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RequestMappingHandlerAdapter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EgovBindingInitializer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연동</a:t>
                      </a:r>
                      <a:r>
                        <a:rPr lang="en-US" sz="1600">
                          <a:effectLst/>
                        </a:rPr>
                        <a:t> — eGov </a:t>
                      </a:r>
                      <a:r>
                        <a:rPr lang="zh-CN" sz="1600">
                          <a:effectLst/>
                        </a:rPr>
                        <a:t>샘플에서 쓰는 바인딩</a:t>
                      </a:r>
                      <a:r>
                        <a:rPr lang="en-US" sz="1600">
                          <a:effectLst/>
                        </a:rPr>
                        <a:t>/</a:t>
                      </a:r>
                      <a:r>
                        <a:rPr lang="zh-CN" sz="1600">
                          <a:effectLst/>
                        </a:rPr>
                        <a:t>날짜 등 초기화 관례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205281"/>
                  </a:ext>
                </a:extLst>
              </a:tr>
              <a:tr h="2783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 err="1">
                          <a:effectLst/>
                        </a:rPr>
                        <a:t>RequestMappingHandlerMapping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interceptors</a:t>
                      </a:r>
                      <a:r>
                        <a:rPr lang="en-US" sz="1600">
                          <a:effectLst/>
                        </a:rPr>
                        <a:t>: </a:t>
                      </a:r>
                      <a:r>
                        <a:rPr lang="en-US" sz="1400">
                          <a:effectLst/>
                        </a:rPr>
                        <a:t>localeChangeInterceptor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en-US" sz="1400">
                          <a:effectLst/>
                        </a:rPr>
                        <a:t>adminAuthInterceptor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순서로 등록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1142817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Locale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SessionLocaleResolver</a:t>
                      </a:r>
                      <a:r>
                        <a:rPr lang="en-US" sz="1600">
                          <a:effectLst/>
                        </a:rPr>
                        <a:t> + </a:t>
                      </a:r>
                      <a:r>
                        <a:rPr lang="en-US" sz="1400">
                          <a:effectLst/>
                        </a:rPr>
                        <a:t>LocaleChangeInterceptor</a:t>
                      </a:r>
                      <a:r>
                        <a:rPr lang="en-US" sz="1600">
                          <a:effectLst/>
                        </a:rPr>
                        <a:t> (</a:t>
                      </a:r>
                      <a:r>
                        <a:rPr lang="en-US" sz="1400">
                          <a:effectLst/>
                        </a:rPr>
                        <a:t>?language=...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파라미터로 로케일 변경</a:t>
                      </a:r>
                      <a:r>
                        <a:rPr lang="en-US" sz="1600">
                          <a:effectLst/>
                        </a:rPr>
                        <a:t>)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800750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>
                          <a:effectLst/>
                        </a:rPr>
                        <a:t>관리자 인터셉터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MappedInterceptor</a:t>
                      </a:r>
                      <a:r>
                        <a:rPr lang="en-US" sz="1600">
                          <a:effectLst/>
                        </a:rPr>
                        <a:t>: URL </a:t>
                      </a:r>
                      <a:r>
                        <a:rPr lang="zh-CN" sz="1600">
                          <a:effectLst/>
                        </a:rPr>
                        <a:t>패턴 </a:t>
                      </a:r>
                      <a:r>
                        <a:rPr lang="en-US" sz="1400">
                          <a:effectLst/>
                        </a:rPr>
                        <a:t>/admin/**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에만 </a:t>
                      </a:r>
                      <a:r>
                        <a:rPr lang="en-US" sz="1400">
                          <a:effectLst/>
                        </a:rPr>
                        <a:t>AdminAuthInterceptor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적용</a:t>
                      </a:r>
                      <a:r>
                        <a:rPr lang="en-US" sz="1600">
                          <a:effectLst/>
                        </a:rPr>
                        <a:t> (</a:t>
                      </a:r>
                      <a:r>
                        <a:rPr lang="zh-CN" sz="1600">
                          <a:effectLst/>
                        </a:rPr>
                        <a:t>세션</a:t>
                      </a:r>
                      <a:r>
                        <a:rPr lang="en-US" sz="1600">
                          <a:effectLst/>
                        </a:rPr>
                        <a:t>·</a:t>
                      </a:r>
                      <a:r>
                        <a:rPr lang="en-US" sz="1400">
                          <a:effectLst/>
                        </a:rPr>
                        <a:t>ADMIN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역할 검사</a:t>
                      </a:r>
                      <a:r>
                        <a:rPr lang="en-US" sz="1600">
                          <a:effectLst/>
                        </a:rPr>
                        <a:t>)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9275715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>
                          <a:effectLst/>
                        </a:rPr>
                        <a:t>예외 뷰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SimpleMappingExceptionResolver</a:t>
                      </a:r>
                      <a:r>
                        <a:rPr lang="en-US" sz="1600">
                          <a:effectLst/>
                        </a:rPr>
                        <a:t> — </a:t>
                      </a:r>
                      <a:r>
                        <a:rPr lang="zh-CN" sz="1600">
                          <a:effectLst/>
                        </a:rPr>
                        <a:t>데이터 접근</a:t>
                      </a:r>
                      <a:r>
                        <a:rPr lang="en-US" sz="1600">
                          <a:effectLst/>
                        </a:rPr>
                        <a:t>/</a:t>
                      </a:r>
                      <a:r>
                        <a:rPr lang="zh-CN" sz="1600">
                          <a:effectLst/>
                        </a:rPr>
                        <a:t>트랜잭션</a:t>
                      </a:r>
                      <a:r>
                        <a:rPr lang="en-US" sz="1600">
                          <a:effectLst/>
                        </a:rPr>
                        <a:t>/eGovBiz </a:t>
                      </a:r>
                      <a:r>
                        <a:rPr lang="zh-CN" sz="1600">
                          <a:effectLst/>
                        </a:rPr>
                        <a:t>등 예외별</a:t>
                      </a:r>
                      <a:r>
                        <a:rPr lang="en-US" sz="1600">
                          <a:effectLst/>
                        </a:rPr>
                        <a:t> JSP </a:t>
                      </a:r>
                      <a:r>
                        <a:rPr lang="zh-CN" sz="1600">
                          <a:effectLst/>
                        </a:rPr>
                        <a:t>뷰 이름</a:t>
                      </a:r>
                      <a:r>
                        <a:rPr lang="en-US" sz="16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cmmn/...</a:t>
                      </a:r>
                      <a:r>
                        <a:rPr lang="en-US" sz="1600">
                          <a:effectLst/>
                        </a:rPr>
                        <a:t>) </a:t>
                      </a:r>
                      <a:r>
                        <a:rPr lang="zh-CN" sz="1600">
                          <a:effectLst/>
                        </a:rPr>
                        <a:t>매핑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5636236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Tiles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TilesConfigurer</a:t>
                      </a:r>
                      <a:r>
                        <a:rPr lang="en-US" sz="1600">
                          <a:effectLst/>
                        </a:rPr>
                        <a:t> → </a:t>
                      </a:r>
                      <a:r>
                        <a:rPr lang="en-US" sz="1400">
                          <a:effectLst/>
                        </a:rPr>
                        <a:t>tiles.xml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zh-CN" sz="1600">
                          <a:effectLst/>
                        </a:rPr>
                        <a:t>로드</a:t>
                      </a:r>
                      <a:r>
                        <a:rPr lang="en-US" sz="1600">
                          <a:effectLst/>
                        </a:rPr>
                        <a:t>. </a:t>
                      </a:r>
                      <a:r>
                        <a:rPr lang="en-US" sz="1400">
                          <a:effectLst/>
                        </a:rPr>
                        <a:t>TilesViewResolver</a:t>
                      </a:r>
                      <a:r>
                        <a:rPr lang="en-US" sz="1600">
                          <a:effectLst/>
                        </a:rPr>
                        <a:t> order=1 — </a:t>
                      </a:r>
                      <a:r>
                        <a:rPr lang="zh-CN" sz="1600">
                          <a:effectLst/>
                        </a:rPr>
                        <a:t>컨트롤러가 반환한 논리 뷰 이름이</a:t>
                      </a:r>
                      <a:r>
                        <a:rPr lang="en-US" sz="1600">
                          <a:effectLst/>
                        </a:rPr>
                        <a:t> Tiles </a:t>
                      </a:r>
                      <a:r>
                        <a:rPr lang="zh-CN" sz="1600">
                          <a:effectLst/>
                        </a:rPr>
                        <a:t>정의와 맞으면 레이아웃 적용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811770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JSP </a:t>
                      </a:r>
                      <a:r>
                        <a:rPr lang="zh-CN" sz="1600">
                          <a:effectLst/>
                        </a:rPr>
                        <a:t>폴백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UrlBasedViewResolver</a:t>
                      </a:r>
                      <a:r>
                        <a:rPr lang="en-US" sz="1600">
                          <a:effectLst/>
                        </a:rPr>
                        <a:t> order=2, </a:t>
                      </a:r>
                      <a:r>
                        <a:rPr lang="zh-CN" sz="1600">
                          <a:effectLst/>
                        </a:rPr>
                        <a:t>접두사 </a:t>
                      </a:r>
                      <a:r>
                        <a:rPr lang="en-US" sz="1400">
                          <a:effectLst/>
                        </a:rPr>
                        <a:t>/WEB-INF/jsp/egovframework/example/</a:t>
                      </a:r>
                      <a:r>
                        <a:rPr lang="en-US" sz="1600">
                          <a:effectLst/>
                        </a:rPr>
                        <a:t> — </a:t>
                      </a:r>
                      <a:r>
                        <a:rPr lang="zh-CN" sz="1600">
                          <a:effectLst/>
                        </a:rPr>
                        <a:t>샘플</a:t>
                      </a:r>
                      <a:r>
                        <a:rPr lang="en-US" sz="1600">
                          <a:effectLst/>
                        </a:rPr>
                        <a:t> eGov JSP </a:t>
                      </a:r>
                      <a:r>
                        <a:rPr lang="zh-CN" sz="1600">
                          <a:effectLst/>
                        </a:rPr>
                        <a:t>경로</a:t>
                      </a:r>
                      <a:r>
                        <a:rPr lang="en-US" sz="1600">
                          <a:effectLst/>
                        </a:rPr>
                        <a:t>. Tiles</a:t>
                      </a:r>
                      <a:r>
                        <a:rPr lang="zh-CN" sz="1600">
                          <a:effectLst/>
                        </a:rPr>
                        <a:t>에 없는 샘플 뷰용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927667"/>
                  </a:ext>
                </a:extLst>
              </a:tr>
              <a:tr h="55670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>
                          <a:effectLst/>
                        </a:rPr>
                        <a:t>페이지네이션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eGov </a:t>
                      </a:r>
                      <a:r>
                        <a:rPr lang="en-US" sz="1400">
                          <a:effectLst/>
                        </a:rPr>
                        <a:t>DefaultPaginationManager</a:t>
                      </a:r>
                      <a:r>
                        <a:rPr lang="en-US" sz="1600">
                          <a:effectLst/>
                        </a:rPr>
                        <a:t> + </a:t>
                      </a:r>
                      <a:r>
                        <a:rPr lang="en-US" sz="1400">
                          <a:effectLst/>
                        </a:rPr>
                        <a:t>EgovImgPaginationRenderer</a:t>
                      </a:r>
                      <a:r>
                        <a:rPr lang="en-US" sz="1600">
                          <a:effectLst/>
                        </a:rPr>
                        <a:t> (</a:t>
                      </a:r>
                      <a:r>
                        <a:rPr lang="zh-CN" sz="1600">
                          <a:effectLst/>
                        </a:rPr>
                        <a:t>샘플 목록 등에서 사용 시</a:t>
                      </a:r>
                      <a:r>
                        <a:rPr lang="en-US" sz="1600">
                          <a:effectLst/>
                        </a:rPr>
                        <a:t>)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0655844"/>
                  </a:ext>
                </a:extLst>
              </a:tr>
              <a:tr h="53351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600">
                          <a:effectLst/>
                        </a:rPr>
                        <a:t>노컨트롤러</a:t>
                      </a:r>
                      <a:r>
                        <a:rPr lang="en-US" sz="1600">
                          <a:effectLst/>
                        </a:rPr>
                        <a:t> URL</a:t>
                      </a:r>
                      <a:endParaRPr lang="ko-KR" sz="16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&lt;</a:t>
                      </a:r>
                      <a:r>
                        <a:rPr lang="en-US" sz="1400" dirty="0" err="1">
                          <a:effectLst/>
                        </a:rPr>
                        <a:t>mvc:view-controller</a:t>
                      </a:r>
                      <a:r>
                        <a:rPr lang="en-US" sz="1400" dirty="0">
                          <a:effectLst/>
                        </a:rPr>
                        <a:t> path="/</a:t>
                      </a:r>
                      <a:r>
                        <a:rPr lang="en-US" sz="1400" dirty="0" err="1">
                          <a:effectLst/>
                        </a:rPr>
                        <a:t>cmmn</a:t>
                      </a:r>
                      <a:r>
                        <a:rPr lang="en-US" sz="1400" dirty="0">
                          <a:effectLst/>
                        </a:rPr>
                        <a:t>/validator.do" view-name="</a:t>
                      </a:r>
                      <a:r>
                        <a:rPr lang="en-US" sz="1400" dirty="0" err="1">
                          <a:effectLst/>
                        </a:rPr>
                        <a:t>cmmn</a:t>
                      </a:r>
                      <a:r>
                        <a:rPr lang="en-US" sz="1400" dirty="0">
                          <a:effectLst/>
                        </a:rPr>
                        <a:t>/validator"/&gt;</a:t>
                      </a:r>
                      <a:r>
                        <a:rPr lang="en-US" sz="1600" dirty="0">
                          <a:effectLst/>
                        </a:rPr>
                        <a:t> — </a:t>
                      </a:r>
                      <a:r>
                        <a:rPr lang="zh-CN" sz="1600" dirty="0">
                          <a:effectLst/>
                        </a:rPr>
                        <a:t>검증 데모 페이지 직매핑</a:t>
                      </a:r>
                      <a:endParaRPr lang="ko-KR" sz="16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459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1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dispatcher-servlet.xml · tiles.xml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tiles.xml: </a:t>
            </a:r>
            <a:r>
              <a:rPr dirty="0" err="1"/>
              <a:t>defaultLayout</a:t>
            </a:r>
            <a:r>
              <a:rPr dirty="0"/>
              <a:t> → header, menu, footer, body </a:t>
            </a:r>
            <a:r>
              <a:rPr dirty="0" err="1"/>
              <a:t>속성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C159DA-9B65-4872-B8A9-D7C06241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4" y="1330194"/>
            <a:ext cx="7759047" cy="32626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E236BA-F235-4CFA-9AC6-E581CE12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4" y="4929121"/>
            <a:ext cx="8132446" cy="997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627B87-767D-45CB-8B6C-B6186B1C1FBD}"/>
              </a:ext>
            </a:extLst>
          </p:cNvPr>
          <p:cNvSpPr txBox="1"/>
          <p:nvPr/>
        </p:nvSpPr>
        <p:spPr>
          <a:xfrm>
            <a:off x="7772400" y="2776847"/>
            <a:ext cx="42204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페이지 프레임을 구성하여 각 페이지가 들어갈 정보를 설정한다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692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1주차 · dispatcher-servlet.xml · tiles.xml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9607" y="893763"/>
            <a:ext cx="11229465" cy="855027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600" dirty="0"/>
              <a:t>tiles.xml: </a:t>
            </a:r>
            <a:r>
              <a:rPr sz="1600" dirty="0" err="1"/>
              <a:t>defaultLayout</a:t>
            </a:r>
            <a:r>
              <a:rPr sz="1600" dirty="0"/>
              <a:t> → header, menu, footer, body </a:t>
            </a:r>
            <a:r>
              <a:rPr sz="1600" dirty="0" err="1"/>
              <a:t>속성</a:t>
            </a:r>
            <a:endParaRPr lang="en-US" sz="1600" dirty="0"/>
          </a:p>
          <a:p>
            <a:pPr>
              <a:defRPr sz="1800"/>
            </a:pPr>
            <a:r>
              <a:rPr lang="ko-KR" altLang="en-US" sz="1600" dirty="0"/>
              <a:t>페이지</a:t>
            </a:r>
            <a:r>
              <a:rPr lang="en-US" altLang="ko-KR" sz="1600" dirty="0"/>
              <a:t>: WEB-INF/</a:t>
            </a:r>
            <a:r>
              <a:rPr lang="en-US" altLang="ko-KR" sz="1600" dirty="0" err="1"/>
              <a:t>jsp</a:t>
            </a:r>
            <a:r>
              <a:rPr lang="en-US" altLang="ko-KR" sz="1600" dirty="0"/>
              <a:t>/layout</a:t>
            </a:r>
            <a:endParaRPr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FEF35D-2727-42FB-80F4-E8056E937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6" y="1834479"/>
            <a:ext cx="5589713" cy="43731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AEC9C5-24A0-415B-BDEC-0353E288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113" y="1239509"/>
            <a:ext cx="5749733" cy="61194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43A794-D991-451A-A40D-CA57C865C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113" y="2180225"/>
            <a:ext cx="5991959" cy="27665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4CC457-595A-4419-BCA3-AA7A4C1A7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113" y="5618491"/>
            <a:ext cx="4181622" cy="49720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630920-29FD-4E25-BBA0-BA71075CF60E}"/>
              </a:ext>
            </a:extLst>
          </p:cNvPr>
          <p:cNvSpPr/>
          <p:nvPr/>
        </p:nvSpPr>
        <p:spPr>
          <a:xfrm>
            <a:off x="685800" y="3234690"/>
            <a:ext cx="3417570" cy="605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168099-87EC-47EC-A181-F2B34E747BEF}"/>
              </a:ext>
            </a:extLst>
          </p:cNvPr>
          <p:cNvSpPr/>
          <p:nvPr/>
        </p:nvSpPr>
        <p:spPr>
          <a:xfrm>
            <a:off x="685800" y="3949029"/>
            <a:ext cx="3417570" cy="497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95DF7C-48EF-4E59-AB9A-568EB6DF999D}"/>
              </a:ext>
            </a:extLst>
          </p:cNvPr>
          <p:cNvSpPr/>
          <p:nvPr/>
        </p:nvSpPr>
        <p:spPr>
          <a:xfrm>
            <a:off x="685800" y="5224054"/>
            <a:ext cx="3417570" cy="5823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29051-9A01-4CE5-9A4F-0336AFA32912}"/>
              </a:ext>
            </a:extLst>
          </p:cNvPr>
          <p:cNvSpPr/>
          <p:nvPr/>
        </p:nvSpPr>
        <p:spPr>
          <a:xfrm>
            <a:off x="685800" y="4458244"/>
            <a:ext cx="3417570" cy="6738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A37922C-BD76-417E-94A5-0958FC8D3079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4103370" y="1545482"/>
            <a:ext cx="1533743" cy="199210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6B595EC1-1DA2-4B8C-B5D7-ACE5C1331498}"/>
              </a:ext>
            </a:extLst>
          </p:cNvPr>
          <p:cNvCxnSpPr>
            <a:stCxn id="14" idx="3"/>
            <a:endCxn id="10" idx="1"/>
          </p:cNvCxnSpPr>
          <p:nvPr/>
        </p:nvCxnSpPr>
        <p:spPr>
          <a:xfrm flipV="1">
            <a:off x="4103370" y="3563475"/>
            <a:ext cx="1533743" cy="634175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1ABDD6B-AA1B-4071-8DB2-B5E376BE5C12}"/>
              </a:ext>
            </a:extLst>
          </p:cNvPr>
          <p:cNvCxnSpPr>
            <a:stCxn id="15" idx="3"/>
            <a:endCxn id="12" idx="1"/>
          </p:cNvCxnSpPr>
          <p:nvPr/>
        </p:nvCxnSpPr>
        <p:spPr>
          <a:xfrm>
            <a:off x="4103370" y="5515247"/>
            <a:ext cx="1533743" cy="351847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E31658-45C8-48B5-9F33-D0F4068D765B}"/>
              </a:ext>
            </a:extLst>
          </p:cNvPr>
          <p:cNvSpPr/>
          <p:nvPr/>
        </p:nvSpPr>
        <p:spPr>
          <a:xfrm>
            <a:off x="5637113" y="5040630"/>
            <a:ext cx="5991959" cy="474617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E8195227-546D-4FD5-A074-96CB147BFF90}"/>
              </a:ext>
            </a:extLst>
          </p:cNvPr>
          <p:cNvCxnSpPr>
            <a:stCxn id="16" idx="3"/>
            <a:endCxn id="23" idx="1"/>
          </p:cNvCxnSpPr>
          <p:nvPr/>
        </p:nvCxnSpPr>
        <p:spPr>
          <a:xfrm>
            <a:off x="4103370" y="4795157"/>
            <a:ext cx="1533743" cy="482782"/>
          </a:xfrm>
          <a:prstGeom prst="bentConnector3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789693E-A2FD-4097-A469-8DBA480DB8B3}"/>
              </a:ext>
            </a:extLst>
          </p:cNvPr>
          <p:cNvSpPr txBox="1"/>
          <p:nvPr/>
        </p:nvSpPr>
        <p:spPr>
          <a:xfrm>
            <a:off x="5743374" y="5090830"/>
            <a:ext cx="57628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내용 페이지 정보가 들어가는 부분</a:t>
            </a:r>
          </a:p>
        </p:txBody>
      </p:sp>
    </p:spTree>
    <p:extLst>
      <p:ext uri="{BB962C8B-B14F-4D97-AF65-F5344CB8AC3E}">
        <p14:creationId xmlns:p14="http://schemas.microsoft.com/office/powerpoint/2010/main" val="161388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FBC9E9D-FDFE-459F-8AC6-5F40BA4FF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4" y="1199924"/>
            <a:ext cx="5815965" cy="4458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F0A78E-2239-461A-B77D-799D0EF1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로그인 페이지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E2638E-AF98-4091-AADB-3A3AB3151C6D}"/>
              </a:ext>
            </a:extLst>
          </p:cNvPr>
          <p:cNvSpPr/>
          <p:nvPr/>
        </p:nvSpPr>
        <p:spPr>
          <a:xfrm>
            <a:off x="765810" y="2636116"/>
            <a:ext cx="5092065" cy="587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0B4A9D-0145-4A08-8485-29528606AE12}"/>
              </a:ext>
            </a:extLst>
          </p:cNvPr>
          <p:cNvSpPr/>
          <p:nvPr/>
        </p:nvSpPr>
        <p:spPr>
          <a:xfrm>
            <a:off x="765810" y="3424330"/>
            <a:ext cx="5092065" cy="409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725D2-DF4D-4142-8188-46EA7A5719D9}"/>
              </a:ext>
            </a:extLst>
          </p:cNvPr>
          <p:cNvSpPr txBox="1"/>
          <p:nvPr/>
        </p:nvSpPr>
        <p:spPr>
          <a:xfrm>
            <a:off x="7075170" y="1063820"/>
            <a:ext cx="3172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Tiles.xml</a:t>
            </a:r>
            <a:r>
              <a:rPr lang="ko-KR" altLang="en-US" dirty="0"/>
              <a:t>의 </a:t>
            </a:r>
            <a:r>
              <a:rPr lang="en-US" altLang="ko-KR" dirty="0"/>
              <a:t>Layout</a:t>
            </a:r>
            <a:r>
              <a:rPr lang="ko-KR" altLang="en-US" dirty="0"/>
              <a:t> </a:t>
            </a:r>
            <a:r>
              <a:rPr lang="ko-KR" altLang="en-US" dirty="0" err="1"/>
              <a:t>프래임</a:t>
            </a:r>
            <a:r>
              <a:rPr lang="ko-KR" altLang="en-US" dirty="0"/>
              <a:t> 구조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DCDD06-F7FD-4574-B1FB-D87756A41F81}"/>
              </a:ext>
            </a:extLst>
          </p:cNvPr>
          <p:cNvSpPr/>
          <p:nvPr/>
        </p:nvSpPr>
        <p:spPr>
          <a:xfrm>
            <a:off x="765809" y="3880669"/>
            <a:ext cx="5092065" cy="563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40D9D0-645A-4434-8432-3867E7160CAB}"/>
              </a:ext>
            </a:extLst>
          </p:cNvPr>
          <p:cNvSpPr/>
          <p:nvPr/>
        </p:nvSpPr>
        <p:spPr>
          <a:xfrm>
            <a:off x="765808" y="4659451"/>
            <a:ext cx="5092065" cy="563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FE94D4D-51D6-4146-84CD-5DCBE138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4" y="1555229"/>
            <a:ext cx="2790508" cy="36933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213B5D4-8E35-44C6-8463-67AF8BC21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4" y="1977389"/>
            <a:ext cx="5014797" cy="23317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01BD06C-04F8-4A7A-AF41-24AE03782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784" y="4715475"/>
            <a:ext cx="4047320" cy="50750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8F45851-CC87-4A4E-9391-D97317EB9031}"/>
              </a:ext>
            </a:extLst>
          </p:cNvPr>
          <p:cNvSpPr/>
          <p:nvPr/>
        </p:nvSpPr>
        <p:spPr>
          <a:xfrm>
            <a:off x="6702051" y="4299175"/>
            <a:ext cx="416596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C956B93-C917-4601-8422-AC49FF85B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005" y="4335904"/>
            <a:ext cx="2085912" cy="29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8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0A78E-2239-461A-B77D-799D0EF1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로그인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D7BB8B-6D84-4CAA-AEFF-19A46F8F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1287780"/>
            <a:ext cx="5010150" cy="3733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EE2638E-AF98-4091-AADB-3A3AB3151C6D}"/>
              </a:ext>
            </a:extLst>
          </p:cNvPr>
          <p:cNvSpPr/>
          <p:nvPr/>
        </p:nvSpPr>
        <p:spPr>
          <a:xfrm>
            <a:off x="662940" y="2057400"/>
            <a:ext cx="5092065" cy="605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E2A693-6C35-4CD6-8BA3-C863EF5CF561}"/>
              </a:ext>
            </a:extLst>
          </p:cNvPr>
          <p:cNvSpPr/>
          <p:nvPr/>
        </p:nvSpPr>
        <p:spPr>
          <a:xfrm>
            <a:off x="662939" y="2743200"/>
            <a:ext cx="1200151" cy="1291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0B4A9D-0145-4A08-8485-29528606AE12}"/>
              </a:ext>
            </a:extLst>
          </p:cNvPr>
          <p:cNvSpPr/>
          <p:nvPr/>
        </p:nvSpPr>
        <p:spPr>
          <a:xfrm>
            <a:off x="662938" y="4194810"/>
            <a:ext cx="5092065" cy="826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A6456C-1F76-4398-85F2-17489F8E57C6}"/>
              </a:ext>
            </a:extLst>
          </p:cNvPr>
          <p:cNvSpPr/>
          <p:nvPr/>
        </p:nvSpPr>
        <p:spPr>
          <a:xfrm>
            <a:off x="1945006" y="2743200"/>
            <a:ext cx="3810000" cy="1291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CFE2DDC-BADD-48D9-B2E7-AA2E3BBE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720" y="1162470"/>
            <a:ext cx="5692142" cy="5405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42CB96-5316-42D1-BBD7-4F18447C5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20" y="1990725"/>
            <a:ext cx="5010150" cy="41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54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0A78E-2239-461A-B77D-799D0EF1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로그인 페이지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42CB96-5316-42D1-BBD7-4F18447C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98" y="1286307"/>
            <a:ext cx="5236117" cy="42853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8350259-9D2E-4384-899E-BBF028921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1269594"/>
            <a:ext cx="4944166" cy="322239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5856913-B77A-40DF-AC70-FCF8151C6519}"/>
              </a:ext>
            </a:extLst>
          </p:cNvPr>
          <p:cNvSpPr/>
          <p:nvPr/>
        </p:nvSpPr>
        <p:spPr>
          <a:xfrm>
            <a:off x="5497830" y="2228850"/>
            <a:ext cx="342900" cy="1017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071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542F7-B6C7-4DEE-96B8-0E0CCBEC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로그인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0AABA8-A42E-4D2E-9C77-D07D678F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070233"/>
            <a:ext cx="55149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4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OAuth 2.0 </a:t>
            </a:r>
            <a:r>
              <a:rPr dirty="0" err="1"/>
              <a:t>인가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이해</a:t>
            </a:r>
            <a:endParaRPr dirty="0"/>
          </a:p>
          <a:p>
            <a:pPr>
              <a:defRPr sz="1800"/>
            </a:pP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: state, </a:t>
            </a:r>
            <a:r>
              <a:rPr dirty="0" err="1"/>
              <a:t>토큰</a:t>
            </a:r>
            <a:r>
              <a:rPr dirty="0"/>
              <a:t>,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, </a:t>
            </a:r>
            <a:r>
              <a:rPr dirty="0" err="1"/>
              <a:t>세션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  <a:p>
            <a:pPr>
              <a:defRPr sz="1800"/>
            </a:pPr>
            <a:r>
              <a:rPr dirty="0"/>
              <a:t>웹 </a:t>
            </a:r>
            <a:r>
              <a:rPr dirty="0" err="1"/>
              <a:t>계층별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Controller / Service / Mapper / XML / JSP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61988" y="893763"/>
            <a:ext cx="11530012" cy="5407025"/>
          </a:xfrm>
        </p:spPr>
        <p:txBody>
          <a:bodyPr/>
          <a:lstStyle/>
          <a:p>
            <a:pPr>
              <a:defRPr sz="1800"/>
            </a:pPr>
            <a:r>
              <a:rPr lang="ko-KR" altLang="en-US" dirty="0"/>
              <a:t>로그인 처리 플로우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6AF11-7E70-41CC-B35B-AC21CC7C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8" y="1256347"/>
            <a:ext cx="10002202" cy="45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93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61988" y="893763"/>
            <a:ext cx="11530012" cy="5407025"/>
          </a:xfrm>
        </p:spPr>
        <p:txBody>
          <a:bodyPr/>
          <a:lstStyle/>
          <a:p>
            <a:pPr>
              <a:defRPr sz="1800"/>
            </a:pPr>
            <a:r>
              <a:rPr lang="ko-KR" altLang="en-US" dirty="0"/>
              <a:t>카카오 로그인 처리 플로우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20378F-F758-4607-A567-83D5C1EBA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275870"/>
            <a:ext cx="8627617" cy="506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9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2주차 ·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</a:t>
            </a:r>
            <a:r>
              <a:rPr lang="ko-KR" altLang="en-US" dirty="0"/>
              <a:t>키 발급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8220B-CF8E-4E8C-83B4-6B7F8E9975A9}"/>
              </a:ext>
            </a:extLst>
          </p:cNvPr>
          <p:cNvSpPr txBox="1"/>
          <p:nvPr/>
        </p:nvSpPr>
        <p:spPr>
          <a:xfrm>
            <a:off x="331027" y="1120587"/>
            <a:ext cx="115299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카카오 인증</a:t>
            </a:r>
            <a:r>
              <a:rPr lang="en-US" altLang="ko-KR" dirty="0"/>
              <a:t>(</a:t>
            </a:r>
            <a:r>
              <a:rPr lang="ko-KR" altLang="en-US" dirty="0"/>
              <a:t>로그인</a:t>
            </a:r>
            <a:r>
              <a:rPr lang="en-US" altLang="ko-KR" dirty="0"/>
              <a:t>) </a:t>
            </a:r>
            <a:r>
              <a:rPr lang="ko-KR" altLang="en-US" dirty="0"/>
              <a:t>키 신청 </a:t>
            </a:r>
            <a:r>
              <a:rPr lang="en-US" altLang="ko-KR" dirty="0"/>
              <a:t>— </a:t>
            </a:r>
            <a:r>
              <a:rPr lang="ko-KR" altLang="en-US" dirty="0"/>
              <a:t>카카오 개발자</a:t>
            </a:r>
          </a:p>
          <a:p>
            <a:endParaRPr lang="ko-KR" altLang="en-US" dirty="0"/>
          </a:p>
          <a:p>
            <a:r>
              <a:rPr lang="ko-KR" altLang="en-US" dirty="0"/>
              <a:t>공식 포털</a:t>
            </a:r>
            <a:r>
              <a:rPr lang="en-US" altLang="ko-KR" dirty="0"/>
              <a:t>: [</a:t>
            </a:r>
            <a:r>
              <a:rPr lang="en-US" altLang="ko-KR" dirty="0" err="1"/>
              <a:t>Kakao</a:t>
            </a:r>
            <a:r>
              <a:rPr lang="en-US" altLang="ko-KR" dirty="0"/>
              <a:t> Developers](https://developers.kakao.com/)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가입</a:t>
            </a:r>
            <a:r>
              <a:rPr lang="en-US" altLang="ko-KR" dirty="0"/>
              <a:t>·</a:t>
            </a:r>
            <a:r>
              <a:rPr lang="ko-KR" altLang="en-US" dirty="0"/>
              <a:t>로그인  </a:t>
            </a:r>
          </a:p>
          <a:p>
            <a:r>
              <a:rPr lang="ko-KR" altLang="en-US" dirty="0"/>
              <a:t>   카카오계정으로 </a:t>
            </a:r>
            <a:r>
              <a:rPr lang="en-US" altLang="ko-KR" dirty="0"/>
              <a:t>[</a:t>
            </a:r>
            <a:r>
              <a:rPr lang="ko-KR" altLang="en-US" dirty="0"/>
              <a:t>카카오 개발자</a:t>
            </a:r>
            <a:r>
              <a:rPr lang="en-US" altLang="ko-KR" dirty="0"/>
              <a:t>](https://developers.kakao.com/)</a:t>
            </a:r>
            <a:r>
              <a:rPr lang="ko-KR" altLang="en-US" dirty="0"/>
              <a:t>에 로그인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애플리케이션 등록  </a:t>
            </a:r>
          </a:p>
          <a:p>
            <a:r>
              <a:rPr lang="ko-KR" altLang="en-US" dirty="0"/>
              <a:t>   내 애플리케이션 → 애플리케이션 추가하기 → 앱 이름</a:t>
            </a:r>
            <a:r>
              <a:rPr lang="en-US" altLang="ko-KR" dirty="0"/>
              <a:t>(</a:t>
            </a:r>
            <a:r>
              <a:rPr lang="ko-KR" altLang="en-US" dirty="0"/>
              <a:t>및 안내에 따른 항목</a:t>
            </a:r>
            <a:r>
              <a:rPr lang="en-US" altLang="ko-KR" dirty="0"/>
              <a:t>) </a:t>
            </a:r>
            <a:r>
              <a:rPr lang="ko-KR" altLang="en-US" dirty="0"/>
              <a:t>입력 후 저장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앱 키 확인  </a:t>
            </a:r>
          </a:p>
          <a:p>
            <a:r>
              <a:rPr lang="ko-KR" altLang="en-US" dirty="0"/>
              <a:t>   해당 앱을 연 뒤 앱 키 탭에서 </a:t>
            </a:r>
            <a:r>
              <a:rPr lang="en-US" altLang="ko-KR" dirty="0"/>
              <a:t>REST API </a:t>
            </a:r>
            <a:r>
              <a:rPr lang="ko-KR" altLang="en-US" dirty="0"/>
              <a:t>키를 확인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   - </a:t>
            </a:r>
            <a:r>
              <a:rPr lang="ko-KR" altLang="en-US" dirty="0"/>
              <a:t>본 프로젝트 서버 코드는 인가 코드로 액세스 토큰을 받을 때 이 값을 </a:t>
            </a:r>
            <a:r>
              <a:rPr lang="en-US" altLang="ko-KR" dirty="0"/>
              <a:t>`</a:t>
            </a:r>
            <a:r>
              <a:rPr lang="en-US" altLang="ko-KR" dirty="0" err="1"/>
              <a:t>client_id</a:t>
            </a:r>
            <a:r>
              <a:rPr lang="en-US" altLang="ko-KR" dirty="0"/>
              <a:t>` </a:t>
            </a:r>
            <a:r>
              <a:rPr lang="ko-KR" altLang="en-US" dirty="0"/>
              <a:t>로 사용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   - JavaScript 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네이티브 앱 키는 클라이언트</a:t>
            </a:r>
            <a:r>
              <a:rPr lang="en-US" altLang="ko-KR" dirty="0"/>
              <a:t>(SDK)</a:t>
            </a:r>
            <a:r>
              <a:rPr lang="ko-KR" altLang="en-US" dirty="0"/>
              <a:t>용</a:t>
            </a:r>
            <a:r>
              <a:rPr lang="en-US" altLang="ko-KR" dirty="0"/>
              <a:t>, </a:t>
            </a:r>
            <a:r>
              <a:rPr lang="ko-KR" altLang="en-US" dirty="0"/>
              <a:t>서버에서 토큰 </a:t>
            </a:r>
            <a:r>
              <a:rPr lang="en-US" altLang="ko-KR" dirty="0"/>
              <a:t>API</a:t>
            </a:r>
            <a:r>
              <a:rPr lang="ko-KR" altLang="en-US" dirty="0"/>
              <a:t>를 호출하는 흐름에는 </a:t>
            </a:r>
            <a:r>
              <a:rPr lang="en-US" altLang="ko-KR" dirty="0"/>
              <a:t>REST API </a:t>
            </a:r>
            <a:r>
              <a:rPr lang="ko-KR" altLang="en-US" dirty="0"/>
              <a:t>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카카오 로그인 켜기  </a:t>
            </a:r>
          </a:p>
          <a:p>
            <a:r>
              <a:rPr lang="ko-KR" altLang="en-US" dirty="0"/>
              <a:t>   제품 설정 → 카카오 로그인 → 활성화 설정을 </a:t>
            </a:r>
            <a:r>
              <a:rPr lang="en-US" altLang="ko-KR" dirty="0"/>
              <a:t>ON </a:t>
            </a:r>
            <a:r>
              <a:rPr lang="ko-KR" altLang="en-US" dirty="0"/>
              <a:t>으로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2주차 ·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</a:t>
            </a:r>
            <a:r>
              <a:rPr lang="ko-KR" altLang="en-US" dirty="0"/>
              <a:t>키 발급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8220B-CF8E-4E8C-83B4-6B7F8E9975A9}"/>
              </a:ext>
            </a:extLst>
          </p:cNvPr>
          <p:cNvSpPr txBox="1"/>
          <p:nvPr/>
        </p:nvSpPr>
        <p:spPr>
          <a:xfrm>
            <a:off x="361507" y="1226762"/>
            <a:ext cx="115299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5. Redirect URI </a:t>
            </a:r>
            <a:r>
              <a:rPr lang="ko-KR" altLang="en-US" dirty="0"/>
              <a:t>등록  </a:t>
            </a:r>
          </a:p>
          <a:p>
            <a:r>
              <a:rPr lang="ko-KR" altLang="en-US" dirty="0"/>
              <a:t>   카카오 로그인 설정의 </a:t>
            </a:r>
            <a:r>
              <a:rPr lang="en-US" altLang="ko-KR" dirty="0"/>
              <a:t>Redirect URI</a:t>
            </a:r>
            <a:r>
              <a:rPr lang="ko-KR" altLang="en-US" dirty="0"/>
              <a:t>에</a:t>
            </a:r>
            <a:r>
              <a:rPr lang="en-US" altLang="ko-KR" dirty="0"/>
              <a:t>, </a:t>
            </a:r>
            <a:r>
              <a:rPr lang="ko-KR" altLang="en-US" dirty="0"/>
              <a:t>실제 서버가 사용하는 </a:t>
            </a:r>
            <a:r>
              <a:rPr lang="ko-KR" altLang="en-US" dirty="0" err="1"/>
              <a:t>콜백</a:t>
            </a:r>
            <a:r>
              <a:rPr lang="ko-KR" altLang="en-US" dirty="0"/>
              <a:t> </a:t>
            </a:r>
            <a:r>
              <a:rPr lang="en-US" altLang="ko-KR" dirty="0"/>
              <a:t>URL</a:t>
            </a:r>
            <a:r>
              <a:rPr lang="ko-KR" altLang="en-US" dirty="0"/>
              <a:t>을 문자 하나까지 동일하게 등록</a:t>
            </a:r>
            <a:r>
              <a:rPr lang="en-US" altLang="ko-KR" dirty="0"/>
              <a:t>.  </a:t>
            </a:r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앱에서 쓰는 형식</a:t>
            </a:r>
            <a:r>
              <a:rPr lang="en-US" altLang="ko-KR" sz="1600" dirty="0"/>
              <a:t>: `{</a:t>
            </a:r>
            <a:r>
              <a:rPr lang="ko-KR" altLang="en-US" sz="1600" dirty="0" err="1"/>
              <a:t>스킴</a:t>
            </a:r>
            <a:r>
              <a:rPr lang="en-US" altLang="ko-KR" sz="1600" dirty="0"/>
              <a:t>}://{</a:t>
            </a:r>
            <a:r>
              <a:rPr lang="ko-KR" altLang="en-US" sz="1600" dirty="0"/>
              <a:t>호스트</a:t>
            </a:r>
            <a:r>
              <a:rPr lang="en-US" altLang="ko-KR" sz="1600" dirty="0"/>
              <a:t>}:{</a:t>
            </a:r>
            <a:r>
              <a:rPr lang="ko-KR" altLang="en-US" sz="1600" dirty="0"/>
              <a:t>포트</a:t>
            </a:r>
            <a:r>
              <a:rPr lang="en-US" altLang="ko-KR" sz="1600" dirty="0"/>
              <a:t>}{</a:t>
            </a:r>
            <a:r>
              <a:rPr lang="ko-KR" altLang="en-US" sz="1600" dirty="0" err="1"/>
              <a:t>컨텍스트경로</a:t>
            </a:r>
            <a:r>
              <a:rPr lang="en-US" altLang="ko-KR" sz="1600" dirty="0"/>
              <a:t>}/auth/</a:t>
            </a:r>
            <a:r>
              <a:rPr lang="en-US" altLang="ko-KR" sz="1600" dirty="0" err="1"/>
              <a:t>kakao</a:t>
            </a:r>
            <a:r>
              <a:rPr lang="en-US" altLang="ko-KR" sz="1600" dirty="0"/>
              <a:t>/callback.do`  </a:t>
            </a:r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예</a:t>
            </a:r>
            <a:r>
              <a:rPr lang="en-US" altLang="ko-KR" sz="1600" dirty="0"/>
              <a:t>(</a:t>
            </a:r>
            <a:r>
              <a:rPr lang="ko-KR" altLang="en-US" sz="1600" dirty="0"/>
              <a:t>루트 컨텍스트</a:t>
            </a:r>
            <a:r>
              <a:rPr lang="en-US" altLang="ko-KR" sz="1600" dirty="0"/>
              <a:t>·</a:t>
            </a:r>
            <a:r>
              <a:rPr lang="ko-KR" altLang="en-US" sz="1600" dirty="0"/>
              <a:t>로컬</a:t>
            </a:r>
            <a:r>
              <a:rPr lang="en-US" altLang="ko-KR" sz="1600" dirty="0"/>
              <a:t>): `http://localhost:8080/auth/</a:t>
            </a:r>
            <a:r>
              <a:rPr lang="en-US" altLang="ko-KR" sz="1600" dirty="0" err="1"/>
              <a:t>kakao</a:t>
            </a:r>
            <a:r>
              <a:rPr lang="en-US" altLang="ko-KR" sz="1600" dirty="0"/>
              <a:t>/callback.do`  </a:t>
            </a:r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예</a:t>
            </a:r>
            <a:r>
              <a:rPr lang="en-US" altLang="ko-KR" sz="1600" dirty="0"/>
              <a:t>(</a:t>
            </a:r>
            <a:r>
              <a:rPr lang="ko-KR" altLang="en-US" sz="1600" dirty="0"/>
              <a:t>컨텍스트 경로가 </a:t>
            </a:r>
            <a:r>
              <a:rPr lang="en-US" altLang="ko-KR" sz="1600" dirty="0"/>
              <a:t>`/</a:t>
            </a:r>
            <a:r>
              <a:rPr lang="en-US" altLang="ko-KR" sz="1600" dirty="0" err="1"/>
              <a:t>webblog</a:t>
            </a:r>
            <a:r>
              <a:rPr lang="en-US" altLang="ko-KR" sz="1600" dirty="0"/>
              <a:t>`</a:t>
            </a:r>
            <a:r>
              <a:rPr lang="ko-KR" altLang="en-US" sz="1600" dirty="0"/>
              <a:t>인 경우</a:t>
            </a:r>
            <a:r>
              <a:rPr lang="en-US" altLang="ko-KR" sz="1600" dirty="0"/>
              <a:t>): `http://localhost:8080/</a:t>
            </a:r>
            <a:r>
              <a:rPr lang="en-US" altLang="ko-KR" sz="1600" dirty="0" err="1"/>
              <a:t>webblog</a:t>
            </a:r>
            <a:r>
              <a:rPr lang="en-US" altLang="ko-KR" sz="1600" dirty="0"/>
              <a:t>/auth/</a:t>
            </a:r>
            <a:r>
              <a:rPr lang="en-US" altLang="ko-KR" sz="1600" dirty="0" err="1"/>
              <a:t>kakao</a:t>
            </a:r>
            <a:r>
              <a:rPr lang="en-US" altLang="ko-KR" sz="1600" dirty="0"/>
              <a:t>/callback.do`  </a:t>
            </a:r>
          </a:p>
          <a:p>
            <a:r>
              <a:rPr lang="en-US" altLang="ko-KR" dirty="0"/>
              <a:t>   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운영 배포 시에는 실제 도메인</a:t>
            </a:r>
            <a:r>
              <a:rPr lang="en-US" altLang="ko-KR" dirty="0"/>
              <a:t>·HTTPS </a:t>
            </a:r>
            <a:r>
              <a:rPr lang="ko-KR" altLang="en-US" dirty="0"/>
              <a:t>기준으로 같은 경로를 추가 등록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동의 항목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 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사용자 정보 </a:t>
            </a:r>
            <a:r>
              <a:rPr lang="en-US" altLang="ko-KR" dirty="0"/>
              <a:t>API(`/v2/user/me`)</a:t>
            </a:r>
            <a:r>
              <a:rPr lang="ko-KR" altLang="en-US" dirty="0"/>
              <a:t>에서 닉네임</a:t>
            </a:r>
            <a:r>
              <a:rPr lang="en-US" altLang="ko-KR" dirty="0"/>
              <a:t>·</a:t>
            </a:r>
            <a:r>
              <a:rPr lang="ko-KR" altLang="en-US" dirty="0"/>
              <a:t>이메일을 쓰려면 </a:t>
            </a:r>
            <a:r>
              <a:rPr lang="en-US" altLang="ko-KR" dirty="0"/>
              <a:t>[</a:t>
            </a:r>
            <a:r>
              <a:rPr lang="ko-KR" altLang="en-US" dirty="0"/>
              <a:t>카카오 로그인</a:t>
            </a:r>
            <a:r>
              <a:rPr lang="en-US" altLang="ko-KR" dirty="0"/>
              <a:t>] </a:t>
            </a:r>
            <a:r>
              <a:rPr lang="ko-KR" altLang="en-US" dirty="0"/>
              <a:t>동의 항목에서 필요한 항목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닉네임</a:t>
            </a:r>
            <a:r>
              <a:rPr lang="en-US" altLang="ko-KR" dirty="0"/>
              <a:t>, </a:t>
            </a:r>
            <a:r>
              <a:rPr lang="ko-KR" altLang="en-US" dirty="0"/>
              <a:t>카카오계정</a:t>
            </a:r>
            <a:r>
              <a:rPr lang="en-US" altLang="ko-KR" dirty="0"/>
              <a:t>(</a:t>
            </a:r>
            <a:r>
              <a:rPr lang="ko-KR" altLang="en-US" dirty="0"/>
              <a:t>이메일</a:t>
            </a:r>
            <a:r>
              <a:rPr lang="en-US" altLang="ko-KR" dirty="0"/>
              <a:t>))</a:t>
            </a:r>
            <a:r>
              <a:rPr lang="ko-KR" altLang="en-US" dirty="0"/>
              <a:t>을 앱 정책에 맞게 설정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이메일 동의가 없으면 본 프로젝트는 내부적으로 대체 이메일 형식을 사용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보안  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REST API </a:t>
            </a:r>
            <a:r>
              <a:rPr lang="ko-KR" altLang="en-US" dirty="0"/>
              <a:t>키는 소스</a:t>
            </a:r>
            <a:r>
              <a:rPr lang="en-US" altLang="ko-KR" dirty="0"/>
              <a:t>·Git</a:t>
            </a:r>
            <a:r>
              <a:rPr lang="ko-KR" altLang="en-US" dirty="0"/>
              <a:t>에 커밋하지 말고 환경변수 등으로만 주입</a:t>
            </a:r>
            <a:r>
              <a:rPr lang="en-US" altLang="ko-KR" dirty="0"/>
              <a:t>. </a:t>
            </a:r>
            <a:r>
              <a:rPr lang="ko-KR" altLang="en-US" dirty="0"/>
              <a:t>유출 시 </a:t>
            </a:r>
            <a:r>
              <a:rPr lang="en-US" altLang="ko-KR" dirty="0"/>
              <a:t>[</a:t>
            </a:r>
            <a:r>
              <a:rPr lang="ko-KR" altLang="en-US" dirty="0"/>
              <a:t>내 애플리케이션</a:t>
            </a:r>
            <a:r>
              <a:rPr lang="en-US" altLang="ko-KR" dirty="0"/>
              <a:t>]</a:t>
            </a:r>
            <a:r>
              <a:rPr lang="ko-KR" altLang="en-US" dirty="0"/>
              <a:t>에서 키 재발급</a:t>
            </a:r>
            <a:r>
              <a:rPr lang="en-US" altLang="ko-KR" dirty="0"/>
              <a:t>·</a:t>
            </a:r>
            <a:r>
              <a:rPr lang="ko-KR" altLang="en-US" dirty="0"/>
              <a:t>문서의 보안 가이드를 따른다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917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2주차 ·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</a:t>
            </a:r>
            <a:r>
              <a:rPr lang="ko-KR" altLang="en-US" dirty="0"/>
              <a:t>키 사용</a:t>
            </a:r>
            <a:endParaRPr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AC8227-E969-4FED-84E0-4E6C4CB76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38930"/>
              </p:ext>
            </p:extLst>
          </p:nvPr>
        </p:nvGraphicFramePr>
        <p:xfrm>
          <a:off x="361950" y="1028700"/>
          <a:ext cx="11530012" cy="3932066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089660">
                  <a:extLst>
                    <a:ext uri="{9D8B030D-6E8A-4147-A177-3AD203B41FA5}">
                      <a16:colId xmlns:a16="http://schemas.microsoft.com/office/drawing/2014/main" val="1879697373"/>
                    </a:ext>
                  </a:extLst>
                </a:gridCol>
                <a:gridCol w="10440352">
                  <a:extLst>
                    <a:ext uri="{9D8B030D-6E8A-4147-A177-3AD203B41FA5}">
                      <a16:colId xmlns:a16="http://schemas.microsoft.com/office/drawing/2014/main" val="1828443725"/>
                    </a:ext>
                  </a:extLst>
                </a:gridCol>
              </a:tblGrid>
              <a:tr h="46551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단계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내용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1606664"/>
                  </a:ext>
                </a:extLst>
              </a:tr>
              <a:tr h="465513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위 절차로 </a:t>
                      </a:r>
                      <a:r>
                        <a:rPr lang="en-US" sz="1800" dirty="0">
                          <a:effectLst/>
                        </a:rPr>
                        <a:t>REST API </a:t>
                      </a:r>
                      <a:r>
                        <a:rPr lang="zh-CN" sz="1800" dirty="0">
                          <a:effectLst/>
                        </a:rPr>
                        <a:t>키 발급 후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zh-CN" sz="1800" dirty="0">
                          <a:effectLst/>
                        </a:rPr>
                        <a:t>서버 환경에 </a:t>
                      </a:r>
                      <a:r>
                        <a:rPr lang="en-US" sz="1600" dirty="0">
                          <a:effectLst/>
                        </a:rPr>
                        <a:t>KAKAO_REST_API_KEY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sz="1800" dirty="0">
                          <a:effectLst/>
                        </a:rPr>
                        <a:t>로 설정합니다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6650557"/>
                  </a:ext>
                </a:extLst>
              </a:tr>
              <a:tr h="868534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카카오 콘솔 </a:t>
                      </a:r>
                      <a:r>
                        <a:rPr lang="en-US" sz="1800" dirty="0">
                          <a:effectLst/>
                        </a:rPr>
                        <a:t>Redirect URI</a:t>
                      </a:r>
                      <a:r>
                        <a:rPr lang="zh-CN" sz="1800" dirty="0">
                          <a:effectLst/>
                        </a:rPr>
                        <a:t>와 서버가 만드는 콜백</a:t>
                      </a:r>
                      <a:r>
                        <a:rPr lang="en-US" sz="1800" dirty="0">
                          <a:effectLst/>
                        </a:rPr>
                        <a:t> URL</a:t>
                      </a:r>
                      <a:r>
                        <a:rPr lang="zh-CN" sz="1800" dirty="0">
                          <a:effectLst/>
                        </a:rPr>
                        <a:t>이 완전히 일치하는지 확인합니다</a:t>
                      </a:r>
                      <a:r>
                        <a:rPr lang="en-US" sz="1800" dirty="0">
                          <a:effectLst/>
                        </a:rPr>
                        <a:t>. (</a:t>
                      </a:r>
                      <a:r>
                        <a:rPr lang="en-US" sz="1600" dirty="0" err="1">
                          <a:effectLst/>
                        </a:rPr>
                        <a:t>AuthController</a:t>
                      </a:r>
                      <a:r>
                        <a:rPr lang="zh-CN" sz="1800" dirty="0">
                          <a:effectLst/>
                        </a:rPr>
                        <a:t>는 요청의 스킴</a:t>
                      </a:r>
                      <a:r>
                        <a:rPr lang="en-US" sz="1800" dirty="0">
                          <a:effectLst/>
                        </a:rPr>
                        <a:t>·</a:t>
                      </a:r>
                      <a:r>
                        <a:rPr lang="zh-CN" sz="1800" dirty="0">
                          <a:effectLst/>
                        </a:rPr>
                        <a:t>호스트</a:t>
                      </a:r>
                      <a:r>
                        <a:rPr lang="en-US" sz="1800" dirty="0">
                          <a:effectLst/>
                        </a:rPr>
                        <a:t>·</a:t>
                      </a:r>
                      <a:r>
                        <a:rPr lang="zh-CN" sz="1800" dirty="0">
                          <a:effectLst/>
                        </a:rPr>
                        <a:t>포트</a:t>
                      </a:r>
                      <a:r>
                        <a:rPr lang="en-US" sz="1800" dirty="0">
                          <a:effectLst/>
                        </a:rPr>
                        <a:t>·</a:t>
                      </a:r>
                      <a:r>
                        <a:rPr lang="en-US" sz="1600" dirty="0" err="1">
                          <a:effectLst/>
                        </a:rPr>
                        <a:t>contextPath</a:t>
                      </a:r>
                      <a:r>
                        <a:rPr lang="zh-CN" sz="1800" dirty="0">
                          <a:effectLst/>
                        </a:rPr>
                        <a:t>를 사용해</a:t>
                      </a:r>
                      <a:r>
                        <a:rPr lang="en-US" sz="1800" dirty="0">
                          <a:effectLst/>
                        </a:rPr>
                        <a:t> URL</a:t>
                      </a:r>
                      <a:r>
                        <a:rPr lang="zh-CN" sz="1800" dirty="0">
                          <a:effectLst/>
                        </a:rPr>
                        <a:t>을 조립합니다</a:t>
                      </a:r>
                      <a:r>
                        <a:rPr lang="en-US" sz="1800" dirty="0">
                          <a:effectLst/>
                        </a:rPr>
                        <a:t>.)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8433567"/>
                  </a:ext>
                </a:extLst>
              </a:tr>
              <a:tr h="499731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사용자는 로그인 화면에서 「카카오로 시작하기」</a:t>
                      </a:r>
                      <a:r>
                        <a:rPr lang="en-US" sz="1800" dirty="0">
                          <a:effectLst/>
                        </a:rPr>
                        <a:t> → </a:t>
                      </a:r>
                      <a:r>
                        <a:rPr lang="en-US" sz="1600" dirty="0">
                          <a:effectLst/>
                        </a:rPr>
                        <a:t>/auth/kakao/login.do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sz="1800" dirty="0">
                          <a:effectLst/>
                        </a:rPr>
                        <a:t>로 이동합니다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8981245"/>
                  </a:ext>
                </a:extLst>
              </a:tr>
              <a:tr h="701749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zh-CN" sz="1800" dirty="0">
                          <a:effectLst/>
                        </a:rPr>
                        <a:t>카카오 동의 후 </a:t>
                      </a:r>
                      <a:r>
                        <a:rPr lang="en-US" sz="1600" dirty="0">
                          <a:effectLst/>
                        </a:rPr>
                        <a:t>/auth/kakao/callback.do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sz="1800" dirty="0">
                          <a:effectLst/>
                        </a:rPr>
                        <a:t>로 돌아오면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zh-CN" sz="1800" dirty="0">
                          <a:effectLst/>
                        </a:rPr>
                        <a:t>서버가 토큰</a:t>
                      </a:r>
                      <a:r>
                        <a:rPr lang="en-US" sz="1800" dirty="0">
                          <a:effectLst/>
                        </a:rPr>
                        <a:t>·</a:t>
                      </a:r>
                      <a:r>
                        <a:rPr lang="zh-CN" sz="1800" dirty="0">
                          <a:effectLst/>
                        </a:rPr>
                        <a:t>회원 정보를 처리하고 세션에 </a:t>
                      </a:r>
                      <a:r>
                        <a:rPr lang="en-US" sz="1600" dirty="0" err="1">
                          <a:effectLst/>
                        </a:rPr>
                        <a:t>loginUser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sz="1800" dirty="0">
                          <a:effectLst/>
                        </a:rPr>
                        <a:t>를 넣습니다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6127304"/>
                  </a:ext>
                </a:extLst>
              </a:tr>
              <a:tr h="931026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zh-CN" sz="1800" dirty="0">
                          <a:effectLst/>
                        </a:rPr>
                        <a:t>선택</a:t>
                      </a:r>
                      <a:r>
                        <a:rPr lang="en-US" sz="1800" dirty="0">
                          <a:effectLst/>
                        </a:rPr>
                        <a:t>) </a:t>
                      </a:r>
                      <a:r>
                        <a:rPr lang="zh-CN" sz="1800" dirty="0">
                          <a:effectLst/>
                        </a:rPr>
                        <a:t>지도</a:t>
                      </a:r>
                      <a:r>
                        <a:rPr lang="en-US" sz="1800" dirty="0">
                          <a:effectLst/>
                        </a:rPr>
                        <a:t> JavaScript API </a:t>
                      </a:r>
                      <a:r>
                        <a:rPr lang="zh-CN" sz="1800" dirty="0">
                          <a:effectLst/>
                        </a:rPr>
                        <a:t>등은 보통 </a:t>
                      </a:r>
                      <a:r>
                        <a:rPr lang="en-US" sz="1800" dirty="0">
                          <a:effectLst/>
                        </a:rPr>
                        <a:t>JavaScript </a:t>
                      </a:r>
                      <a:r>
                        <a:rPr lang="zh-CN" sz="1800" dirty="0">
                          <a:effectLst/>
                        </a:rPr>
                        <a:t>키를 쓰며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zh-CN" sz="1800" dirty="0">
                          <a:effectLst/>
                        </a:rPr>
                        <a:t>별도로 </a:t>
                      </a:r>
                      <a:r>
                        <a:rPr lang="en-US" sz="1600" dirty="0">
                          <a:effectLst/>
                        </a:rPr>
                        <a:t>KAKAO_MAP_API_KEY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sz="1800" dirty="0">
                          <a:effectLst/>
                        </a:rPr>
                        <a:t>를 두고 프론트에서 사용할 수 있습니다</a:t>
                      </a:r>
                      <a:r>
                        <a:rPr lang="en-US" sz="1800" dirty="0">
                          <a:effectLst/>
                        </a:rPr>
                        <a:t>. </a:t>
                      </a:r>
                      <a:r>
                        <a:rPr lang="zh-CN" sz="1800" dirty="0">
                          <a:effectLst/>
                        </a:rPr>
                        <a:t>현재 백엔드 코드는 필수로 읽지 않습니다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ko-KR" sz="18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217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572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5BC9A-BF46-4F71-A2BC-C1FD00FD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 사용자 인증 로그인 절차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DAE0F-79D2-498D-8C51-72607A382319}"/>
              </a:ext>
            </a:extLst>
          </p:cNvPr>
          <p:cNvSpPr txBox="1"/>
          <p:nvPr/>
        </p:nvSpPr>
        <p:spPr>
          <a:xfrm>
            <a:off x="542261" y="1134999"/>
            <a:ext cx="293157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Method: GET (http://localhost:8080/)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13AAC-BBD0-4962-8AB2-A523EC94D044}"/>
              </a:ext>
            </a:extLst>
          </p:cNvPr>
          <p:cNvSpPr txBox="1"/>
          <p:nvPr/>
        </p:nvSpPr>
        <p:spPr>
          <a:xfrm>
            <a:off x="542261" y="1828562"/>
            <a:ext cx="773801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HomeController.java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@GetMapping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home(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HttpSession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.getAttribute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LOGIN_USER_SESSION_KEY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"redirect:/auth/login.do"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FFE1A-C9FA-479B-A6AB-172D6DBED45D}"/>
              </a:ext>
            </a:extLst>
          </p:cNvPr>
          <p:cNvSpPr txBox="1"/>
          <p:nvPr/>
        </p:nvSpPr>
        <p:spPr>
          <a:xfrm>
            <a:off x="542261" y="3968674"/>
            <a:ext cx="286809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AuthController.java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@GetMapping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"/login.do"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"auth/login"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1E9D7-0DB3-458F-81BE-76775E88B178}"/>
              </a:ext>
            </a:extLst>
          </p:cNvPr>
          <p:cNvSpPr txBox="1"/>
          <p:nvPr/>
        </p:nvSpPr>
        <p:spPr>
          <a:xfrm>
            <a:off x="4922875" y="3968674"/>
            <a:ext cx="4698722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Auth/</a:t>
            </a:r>
            <a:r>
              <a:rPr lang="en-US" altLang="ko-KR" sz="1400" dirty="0" err="1"/>
              <a:t>login.jsp</a:t>
            </a:r>
            <a:endParaRPr lang="en-US" altLang="ko-KR" sz="1400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"/auth/login.do"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US" altLang="ko-KR" sz="1400" dirty="0" err="1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로그인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"/auth/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kakao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/login.do"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카카오로 시작하기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BAD5B805-22AA-432F-8FAF-D0B3D732D410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16200000" flipH="1">
            <a:off x="3016765" y="434058"/>
            <a:ext cx="385786" cy="2403222"/>
          </a:xfrm>
          <a:prstGeom prst="bentConnector3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AFDE67D-A2C6-457A-BC75-4366CFF8730F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923952" y="2481357"/>
            <a:ext cx="539674" cy="2434961"/>
          </a:xfrm>
          <a:prstGeom prst="bentConnector3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56028473-C216-4932-B831-76936C6226A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10354" y="4553450"/>
            <a:ext cx="1512521" cy="538609"/>
          </a:xfrm>
          <a:prstGeom prst="bentConnector3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167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5BC9A-BF46-4F71-A2BC-C1FD00FD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 사용자 인증 로그인 절차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DAE0F-79D2-498D-8C51-72607A382319}"/>
              </a:ext>
            </a:extLst>
          </p:cNvPr>
          <p:cNvSpPr txBox="1"/>
          <p:nvPr/>
        </p:nvSpPr>
        <p:spPr>
          <a:xfrm>
            <a:off x="542261" y="1134999"/>
            <a:ext cx="635834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Method: POST (http://localhost:8080/auth/</a:t>
            </a:r>
            <a:r>
              <a:rPr lang="en-US" altLang="ko-KR" sz="1400" dirty="0" err="1"/>
              <a:t>login.do?name</a:t>
            </a:r>
            <a:r>
              <a:rPr lang="en-US" altLang="ko-KR" sz="1400" dirty="0"/>
              <a:t>=“ylovepk67@gmail.com”)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13AAC-BBD0-4962-8AB2-A523EC94D044}"/>
              </a:ext>
            </a:extLst>
          </p:cNvPr>
          <p:cNvSpPr txBox="1"/>
          <p:nvPr/>
        </p:nvSpPr>
        <p:spPr>
          <a:xfrm>
            <a:off x="542261" y="1828562"/>
            <a:ext cx="575029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AuthController.java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@PostMapping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"/login.do"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login(</a:t>
            </a:r>
            <a:r>
              <a:rPr lang="en-US" altLang="ko-KR" sz="140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@RequestParam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String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HttpServletRequest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BAD5B805-22AA-432F-8FAF-D0B3D732D410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3376527" y="1483656"/>
            <a:ext cx="385786" cy="304026"/>
          </a:xfrm>
          <a:prstGeom prst="bentConnector3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AFDE67D-A2C6-457A-BC75-4366CFF8730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115503" y="3300017"/>
            <a:ext cx="603809" cy="12700"/>
          </a:xfrm>
          <a:prstGeom prst="bentConnector3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5D563140-2BE4-4294-A1ED-E1F201E235F2}"/>
              </a:ext>
            </a:extLst>
          </p:cNvPr>
          <p:cNvSpPr/>
          <p:nvPr/>
        </p:nvSpPr>
        <p:spPr>
          <a:xfrm>
            <a:off x="542261" y="3601922"/>
            <a:ext cx="5750292" cy="959446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C5CAF9-B06D-414D-8EEF-805ECAB3B3C3}"/>
              </a:ext>
            </a:extLst>
          </p:cNvPr>
          <p:cNvSpPr txBox="1"/>
          <p:nvPr/>
        </p:nvSpPr>
        <p:spPr>
          <a:xfrm>
            <a:off x="5594109" y="5569112"/>
            <a:ext cx="296747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redirect:/admin/dashboard.do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BAFE0-0A18-4C2F-B7E5-879F4B6A0ACA}"/>
              </a:ext>
            </a:extLst>
          </p:cNvPr>
          <p:cNvSpPr txBox="1"/>
          <p:nvPr/>
        </p:nvSpPr>
        <p:spPr>
          <a:xfrm>
            <a:off x="6580918" y="4561920"/>
            <a:ext cx="495520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redirect:/blog/"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4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owned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.getBlogId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"/view.do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77DC0-3B67-4B89-9A94-2864844EE390}"/>
              </a:ext>
            </a:extLst>
          </p:cNvPr>
          <p:cNvSpPr txBox="1"/>
          <p:nvPr/>
        </p:nvSpPr>
        <p:spPr>
          <a:xfrm>
            <a:off x="1731131" y="3897955"/>
            <a:ext cx="335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userId</a:t>
            </a:r>
            <a:r>
              <a:rPr lang="en-US" altLang="ko-KR" sz="1400" dirty="0">
                <a:solidFill>
                  <a:schemeClr val="tx1"/>
                </a:solidFill>
              </a:rPr>
              <a:t>? ADMIN | owned | </a:t>
            </a:r>
            <a:r>
              <a:rPr lang="en-US" altLang="ko-KR" sz="1400" dirty="0" err="1">
                <a:solidFill>
                  <a:schemeClr val="tx1"/>
                </a:solidFill>
              </a:rPr>
              <a:t>memberBlogId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EB6E1-A0C0-4D09-9055-D51B118B48D2}"/>
              </a:ext>
            </a:extLst>
          </p:cNvPr>
          <p:cNvSpPr txBox="1"/>
          <p:nvPr/>
        </p:nvSpPr>
        <p:spPr>
          <a:xfrm>
            <a:off x="7077849" y="3206819"/>
            <a:ext cx="445827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l-NL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redirect:/blog/"</a:t>
            </a:r>
            <a:r>
              <a:rPr lang="nl-NL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memberBlogId</a:t>
            </a:r>
            <a:r>
              <a:rPr lang="nl-NL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altLang="ko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"/view.do</a:t>
            </a:r>
            <a:endParaRPr lang="ko-KR" altLang="en-US" sz="1400" dirty="0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526682A6-F42A-49A2-9813-8280EED9AAF6}"/>
              </a:ext>
            </a:extLst>
          </p:cNvPr>
          <p:cNvCxnSpPr>
            <a:stCxn id="7" idx="3"/>
            <a:endCxn id="25" idx="1"/>
          </p:cNvCxnSpPr>
          <p:nvPr/>
        </p:nvCxnSpPr>
        <p:spPr>
          <a:xfrm flipV="1">
            <a:off x="6292553" y="3360708"/>
            <a:ext cx="785296" cy="72093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A0F5EDA9-38B0-4D24-B812-E63781310533}"/>
              </a:ext>
            </a:extLst>
          </p:cNvPr>
          <p:cNvCxnSpPr>
            <a:stCxn id="7" idx="2"/>
            <a:endCxn id="15" idx="1"/>
          </p:cNvCxnSpPr>
          <p:nvPr/>
        </p:nvCxnSpPr>
        <p:spPr>
          <a:xfrm rot="16200000" flipH="1">
            <a:off x="4921942" y="3056832"/>
            <a:ext cx="154441" cy="316351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06C9BCAC-3F34-42E2-A600-EA71CC6A2DD7}"/>
              </a:ext>
            </a:extLst>
          </p:cNvPr>
          <p:cNvCxnSpPr>
            <a:stCxn id="7" idx="1"/>
            <a:endCxn id="14" idx="1"/>
          </p:cNvCxnSpPr>
          <p:nvPr/>
        </p:nvCxnSpPr>
        <p:spPr>
          <a:xfrm rot="10800000" flipH="1" flipV="1">
            <a:off x="542261" y="4081645"/>
            <a:ext cx="5051848" cy="1641356"/>
          </a:xfrm>
          <a:prstGeom prst="bentConnector3">
            <a:avLst>
              <a:gd name="adj1" fmla="val -4525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295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2주차 · </a:t>
            </a:r>
            <a:r>
              <a:rPr dirty="0" err="1"/>
              <a:t>컨트롤러</a:t>
            </a:r>
            <a:r>
              <a:rPr dirty="0"/>
              <a:t> · </a:t>
            </a:r>
            <a:r>
              <a:rPr dirty="0" err="1"/>
              <a:t>AuthController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1073816"/>
            <a:ext cx="11529946" cy="2222277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일반</a:t>
            </a:r>
            <a:r>
              <a:rPr dirty="0"/>
              <a:t>: GET/POST /auth/login.do, /auth/register.do, /auth/logout.do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  <a:defRPr sz="1800"/>
            </a:pP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카카오</a:t>
            </a:r>
            <a:r>
              <a:rPr dirty="0"/>
              <a:t>: /auth/</a:t>
            </a:r>
            <a:r>
              <a:rPr dirty="0" err="1"/>
              <a:t>kakao</a:t>
            </a:r>
            <a:r>
              <a:rPr dirty="0"/>
              <a:t>/login.do, /auth/kakao/callback.do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RestTemplate</a:t>
            </a:r>
            <a:r>
              <a:rPr dirty="0"/>
              <a:t> + </a:t>
            </a:r>
            <a:r>
              <a:rPr dirty="0" err="1"/>
              <a:t>Jackson으로</a:t>
            </a:r>
            <a:r>
              <a:rPr dirty="0"/>
              <a:t> </a:t>
            </a:r>
            <a:r>
              <a:rPr dirty="0" err="1"/>
              <a:t>토큰·사용자</a:t>
            </a:r>
            <a:r>
              <a:rPr dirty="0"/>
              <a:t> JSON </a:t>
            </a:r>
            <a:r>
              <a:rPr dirty="0" err="1"/>
              <a:t>처리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뷰 </a:t>
            </a:r>
            <a:r>
              <a:rPr dirty="0" err="1"/>
              <a:t>이름</a:t>
            </a:r>
            <a:r>
              <a:rPr dirty="0"/>
              <a:t>: auth/login, auth/register (Tiles)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D0CA58-30F2-460D-9A3D-7D4EDEF34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1442084"/>
            <a:ext cx="8717013" cy="41471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535AB6-FA25-40D3-BEDE-8B38D4ED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69" y="1600200"/>
            <a:ext cx="2402443" cy="202311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C0B3DF1-4387-4E60-B66D-4A5255ABDFF1}"/>
              </a:ext>
            </a:extLst>
          </p:cNvPr>
          <p:cNvSpPr/>
          <p:nvPr/>
        </p:nvSpPr>
        <p:spPr>
          <a:xfrm>
            <a:off x="9658350" y="2697480"/>
            <a:ext cx="1314450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28F6D6-5A6A-4CC0-A229-4421112F8A61}"/>
              </a:ext>
            </a:extLst>
          </p:cNvPr>
          <p:cNvSpPr/>
          <p:nvPr/>
        </p:nvSpPr>
        <p:spPr>
          <a:xfrm>
            <a:off x="361506" y="1691640"/>
            <a:ext cx="2358833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030162-BD72-4AEB-A258-F9629D784A65}"/>
              </a:ext>
            </a:extLst>
          </p:cNvPr>
          <p:cNvSpPr/>
          <p:nvPr/>
        </p:nvSpPr>
        <p:spPr>
          <a:xfrm>
            <a:off x="10258034" y="3017520"/>
            <a:ext cx="1314450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A1B8F6-6134-4FDC-B095-2940DF09D545}"/>
              </a:ext>
            </a:extLst>
          </p:cNvPr>
          <p:cNvSpPr/>
          <p:nvPr/>
        </p:nvSpPr>
        <p:spPr>
          <a:xfrm>
            <a:off x="784416" y="4669156"/>
            <a:ext cx="2358833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C35E40-0F80-4614-AC8F-D3F0AB6CDEEA}"/>
              </a:ext>
            </a:extLst>
          </p:cNvPr>
          <p:cNvSpPr/>
          <p:nvPr/>
        </p:nvSpPr>
        <p:spPr>
          <a:xfrm>
            <a:off x="1058737" y="5070853"/>
            <a:ext cx="2244534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947FFD6-E0F4-42C3-A5D3-517A136AB780}"/>
              </a:ext>
            </a:extLst>
          </p:cNvPr>
          <p:cNvCxnSpPr>
            <a:stCxn id="18" idx="3"/>
            <a:endCxn id="8" idx="1"/>
          </p:cNvCxnSpPr>
          <p:nvPr/>
        </p:nvCxnSpPr>
        <p:spPr>
          <a:xfrm flipV="1">
            <a:off x="3303271" y="2863215"/>
            <a:ext cx="6355079" cy="2373373"/>
          </a:xfrm>
          <a:prstGeom prst="bentConnector3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E2B03D-EF98-4688-B748-64FC84DAB4DC}"/>
              </a:ext>
            </a:extLst>
          </p:cNvPr>
          <p:cNvSpPr txBox="1"/>
          <p:nvPr/>
        </p:nvSpPr>
        <p:spPr>
          <a:xfrm>
            <a:off x="2869162" y="1488043"/>
            <a:ext cx="184614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http://~~~~/auth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3189023" y="4650225"/>
            <a:ext cx="272138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http://~~~~/auth/login.do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A4A5219-FC9E-44CA-8605-AC212C9A0E04}"/>
              </a:ext>
            </a:extLst>
          </p:cNvPr>
          <p:cNvSpPr/>
          <p:nvPr/>
        </p:nvSpPr>
        <p:spPr>
          <a:xfrm>
            <a:off x="2548890" y="4526280"/>
            <a:ext cx="471783" cy="474346"/>
          </a:xfrm>
          <a:prstGeom prst="ellipse">
            <a:avLst/>
          </a:prstGeom>
          <a:noFill/>
          <a:ln w="38100">
            <a:solidFill>
              <a:srgbClr val="0000C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8F9D10D-8983-496E-87C4-57068498A014}"/>
              </a:ext>
            </a:extLst>
          </p:cNvPr>
          <p:cNvCxnSpPr>
            <a:stCxn id="23" idx="0"/>
            <a:endCxn id="24" idx="2"/>
          </p:cNvCxnSpPr>
          <p:nvPr/>
        </p:nvCxnSpPr>
        <p:spPr>
          <a:xfrm flipV="1">
            <a:off x="2784782" y="3232547"/>
            <a:ext cx="0" cy="1293733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B60121-A7AE-4A95-A7DA-77DE9BD95706}"/>
              </a:ext>
            </a:extLst>
          </p:cNvPr>
          <p:cNvSpPr/>
          <p:nvPr/>
        </p:nvSpPr>
        <p:spPr>
          <a:xfrm>
            <a:off x="784416" y="3429000"/>
            <a:ext cx="3147504" cy="56426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C1BC2-3D82-44B7-82ED-0436347DC3C5}"/>
              </a:ext>
            </a:extLst>
          </p:cNvPr>
          <p:cNvSpPr txBox="1"/>
          <p:nvPr/>
        </p:nvSpPr>
        <p:spPr>
          <a:xfrm>
            <a:off x="1808553" y="2863215"/>
            <a:ext cx="195245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Dispatcher</a:t>
            </a:r>
            <a:r>
              <a:rPr lang="ko-KR" altLang="en-US" b="1" dirty="0">
                <a:solidFill>
                  <a:srgbClr val="0000CC"/>
                </a:solidFill>
              </a:rPr>
              <a:t>에 정의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07407B-5FBD-409E-A050-5B8C9B4A4198}"/>
              </a:ext>
            </a:extLst>
          </p:cNvPr>
          <p:cNvSpPr txBox="1"/>
          <p:nvPr/>
        </p:nvSpPr>
        <p:spPr>
          <a:xfrm>
            <a:off x="5709847" y="3385133"/>
            <a:ext cx="3645742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@Resource(name = “</a:t>
            </a:r>
            <a:r>
              <a:rPr lang="en-US" altLang="ko-KR" b="1" dirty="0" err="1">
                <a:solidFill>
                  <a:srgbClr val="0000CC"/>
                </a:solidFill>
              </a:rPr>
              <a:t>userService</a:t>
            </a:r>
            <a:r>
              <a:rPr lang="en-US" altLang="ko-KR" b="1" dirty="0">
                <a:solidFill>
                  <a:srgbClr val="0000CC"/>
                </a:solidFill>
              </a:rPr>
              <a:t>”)</a:t>
            </a:r>
          </a:p>
          <a:p>
            <a:r>
              <a:rPr lang="ko-KR" altLang="en-US" b="1" dirty="0">
                <a:solidFill>
                  <a:srgbClr val="0000CC"/>
                </a:solidFill>
              </a:rPr>
              <a:t>서비스 구현체 클래스 객체를 상속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3286A6E-21B2-4CCB-8F4B-A98CDE1BE285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3931920" y="3708299"/>
            <a:ext cx="1777927" cy="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609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FFBACBB-D53A-40CC-B11D-69A764D7E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3" y="1570327"/>
            <a:ext cx="7056118" cy="45567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28F6D6-5A6A-4CC0-A229-4421112F8A61}"/>
              </a:ext>
            </a:extLst>
          </p:cNvPr>
          <p:cNvSpPr/>
          <p:nvPr/>
        </p:nvSpPr>
        <p:spPr>
          <a:xfrm>
            <a:off x="510329" y="1600200"/>
            <a:ext cx="2792942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A1B8F6-6134-4FDC-B095-2940DF09D545}"/>
              </a:ext>
            </a:extLst>
          </p:cNvPr>
          <p:cNvSpPr/>
          <p:nvPr/>
        </p:nvSpPr>
        <p:spPr>
          <a:xfrm>
            <a:off x="2557231" y="1920652"/>
            <a:ext cx="4015019" cy="685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C35E40-0F80-4614-AC8F-D3F0AB6CDEEA}"/>
              </a:ext>
            </a:extLst>
          </p:cNvPr>
          <p:cNvSpPr/>
          <p:nvPr/>
        </p:nvSpPr>
        <p:spPr>
          <a:xfrm>
            <a:off x="937991" y="3697908"/>
            <a:ext cx="6484319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E2B03D-EF98-4688-B748-64FC84DAB4DC}"/>
              </a:ext>
            </a:extLst>
          </p:cNvPr>
          <p:cNvSpPr txBox="1"/>
          <p:nvPr/>
        </p:nvSpPr>
        <p:spPr>
          <a:xfrm>
            <a:off x="4458252" y="1238433"/>
            <a:ext cx="444301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http://~~~~/auth/login.do</a:t>
            </a:r>
            <a:r>
              <a:rPr lang="ko-KR" altLang="en-US" b="1" dirty="0">
                <a:solidFill>
                  <a:srgbClr val="0000CC"/>
                </a:solidFill>
              </a:rPr>
              <a:t>를 통해 자료입력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8237121" y="3697908"/>
            <a:ext cx="3764379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상속받은 클래스 객체에 있는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en-US" altLang="ko-KR" b="1" dirty="0" err="1">
                <a:solidFill>
                  <a:srgbClr val="0000CC"/>
                </a:solidFill>
              </a:rPr>
              <a:t>getUserByName</a:t>
            </a:r>
            <a:r>
              <a:rPr lang="en-US" altLang="ko-KR" b="1" dirty="0">
                <a:solidFill>
                  <a:srgbClr val="0000CC"/>
                </a:solidFill>
              </a:rPr>
              <a:t> </a:t>
            </a:r>
            <a:r>
              <a:rPr lang="ko-KR" altLang="en-US" b="1" dirty="0">
                <a:solidFill>
                  <a:srgbClr val="0000CC"/>
                </a:solidFill>
              </a:rPr>
              <a:t>함수에 파라미터를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전달하여 값을 받아 </a:t>
            </a:r>
            <a:r>
              <a:rPr lang="en-US" altLang="ko-KR" b="1" dirty="0">
                <a:solidFill>
                  <a:srgbClr val="0000CC"/>
                </a:solidFill>
              </a:rPr>
              <a:t>VO</a:t>
            </a:r>
            <a:r>
              <a:rPr lang="ko-KR" altLang="en-US" b="1" dirty="0">
                <a:solidFill>
                  <a:srgbClr val="0000CC"/>
                </a:solidFill>
              </a:rPr>
              <a:t> 클래스 변수들에 값을 넣는다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C1BC2-3D82-44B7-82ED-0436347DC3C5}"/>
              </a:ext>
            </a:extLst>
          </p:cNvPr>
          <p:cNvSpPr txBox="1"/>
          <p:nvPr/>
        </p:nvSpPr>
        <p:spPr>
          <a:xfrm>
            <a:off x="8237121" y="1800791"/>
            <a:ext cx="3764379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로그인 페이지에서 문자형 </a:t>
            </a:r>
            <a:r>
              <a:rPr lang="en-US" altLang="ko-KR" b="1" dirty="0">
                <a:solidFill>
                  <a:srgbClr val="0000CC"/>
                </a:solidFill>
              </a:rPr>
              <a:t>email </a:t>
            </a:r>
            <a:r>
              <a:rPr lang="ko-KR" altLang="en-US" b="1" dirty="0">
                <a:solidFill>
                  <a:srgbClr val="0000CC"/>
                </a:solidFill>
              </a:rPr>
              <a:t>변수를 받는다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EEEF8F0-D344-407A-8739-F3F13F83F3EB}"/>
              </a:ext>
            </a:extLst>
          </p:cNvPr>
          <p:cNvCxnSpPr>
            <a:stCxn id="21" idx="1"/>
            <a:endCxn id="9" idx="0"/>
          </p:cNvCxnSpPr>
          <p:nvPr/>
        </p:nvCxnSpPr>
        <p:spPr>
          <a:xfrm rot="10800000" flipV="1">
            <a:off x="1906800" y="1423098"/>
            <a:ext cx="2551452" cy="17710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4B5DE48-A09B-4758-9F7B-82D4063AA4EE}"/>
              </a:ext>
            </a:extLst>
          </p:cNvPr>
          <p:cNvCxnSpPr>
            <a:stCxn id="15" idx="3"/>
            <a:endCxn id="24" idx="1"/>
          </p:cNvCxnSpPr>
          <p:nvPr/>
        </p:nvCxnSpPr>
        <p:spPr>
          <a:xfrm flipV="1">
            <a:off x="6572250" y="2123957"/>
            <a:ext cx="1664871" cy="1394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D2AE250-C627-4B55-A267-4DA5700DF095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7422310" y="3863643"/>
            <a:ext cx="814811" cy="4344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187A30-AE35-451E-AAD7-09BE6AF90439}"/>
              </a:ext>
            </a:extLst>
          </p:cNvPr>
          <p:cNvSpPr/>
          <p:nvPr/>
        </p:nvSpPr>
        <p:spPr>
          <a:xfrm>
            <a:off x="1303021" y="2772406"/>
            <a:ext cx="5634990" cy="331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2BDDAF-CFE0-4C83-985E-E3D3255710F4}"/>
              </a:ext>
            </a:extLst>
          </p:cNvPr>
          <p:cNvSpPr txBox="1"/>
          <p:nvPr/>
        </p:nvSpPr>
        <p:spPr>
          <a:xfrm>
            <a:off x="8237121" y="2537886"/>
            <a:ext cx="3764379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문자를 </a:t>
            </a:r>
            <a:r>
              <a:rPr lang="en-US" altLang="ko-KR" b="1" dirty="0">
                <a:solidFill>
                  <a:srgbClr val="0000CC"/>
                </a:solidFill>
              </a:rPr>
              <a:t>message </a:t>
            </a:r>
            <a:r>
              <a:rPr lang="ko-KR" altLang="en-US" b="1" dirty="0">
                <a:solidFill>
                  <a:srgbClr val="0000CC"/>
                </a:solidFill>
              </a:rPr>
              <a:t>변수에 넣어서 호출할 페이지에 변수명으로 전달한다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9EB9170-05C3-4A9C-9CF7-F9881877FCC1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6938011" y="2938141"/>
            <a:ext cx="1299110" cy="614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1485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lang="ko-KR" altLang="en-US" b="1" dirty="0"/>
              <a:t>도움이 될 만한 방법</a:t>
            </a:r>
            <a:endParaRPr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6F0F4C-98AA-4EDA-B6C9-9FDDC1C1B50D}"/>
              </a:ext>
            </a:extLst>
          </p:cNvPr>
          <p:cNvSpPr txBox="1"/>
          <p:nvPr/>
        </p:nvSpPr>
        <p:spPr>
          <a:xfrm>
            <a:off x="361506" y="1582341"/>
            <a:ext cx="83024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private</a:t>
            </a:r>
            <a:r>
              <a:rPr lang="ko-KR" altLang="en-US" dirty="0"/>
              <a:t> 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Logger</a:t>
            </a:r>
            <a:r>
              <a:rPr lang="ko-KR" altLang="en-US" dirty="0"/>
              <a:t> LOGGER = </a:t>
            </a:r>
            <a:r>
              <a:rPr lang="ko-KR" altLang="en-US" dirty="0" err="1"/>
              <a:t>LoggerFactory.getLogger</a:t>
            </a:r>
            <a:r>
              <a:rPr lang="ko-KR" altLang="en-US" dirty="0"/>
              <a:t>(</a:t>
            </a:r>
            <a:r>
              <a:rPr lang="ko-KR" altLang="en-US" dirty="0" err="1"/>
              <a:t>AuthController.class</a:t>
            </a:r>
            <a:r>
              <a:rPr lang="ko-KR" altLang="en-US" dirty="0"/>
              <a:t>);</a:t>
            </a:r>
          </a:p>
          <a:p>
            <a:r>
              <a:rPr lang="ko-KR" altLang="en-US" dirty="0" err="1"/>
              <a:t>private</a:t>
            </a:r>
            <a:r>
              <a:rPr lang="ko-KR" altLang="en-US" dirty="0"/>
              <a:t> 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LOG_PREFIX = "</a:t>
            </a:r>
            <a:r>
              <a:rPr lang="ko-KR" altLang="en-US" dirty="0" err="1"/>
              <a:t>AuthController</a:t>
            </a:r>
            <a:r>
              <a:rPr lang="ko-KR" altLang="en-US" dirty="0"/>
              <a:t>";</a:t>
            </a:r>
          </a:p>
          <a:p>
            <a:r>
              <a:rPr lang="ko-KR" altLang="en-US" dirty="0"/>
              <a:t>	</a:t>
            </a:r>
          </a:p>
          <a:p>
            <a:r>
              <a:rPr lang="ko-KR" altLang="en-US" dirty="0" err="1"/>
              <a:t>private</a:t>
            </a:r>
            <a:r>
              <a:rPr lang="ko-KR" altLang="en-US" dirty="0"/>
              <a:t> 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class</a:t>
            </a:r>
            <a:r>
              <a:rPr lang="ko-KR" altLang="en-US" dirty="0"/>
              <a:t> </a:t>
            </a:r>
            <a:r>
              <a:rPr lang="ko-KR" altLang="en-US" dirty="0" err="1"/>
              <a:t>ViewNames</a:t>
            </a:r>
            <a:r>
              <a:rPr lang="ko-KR" altLang="en-US" dirty="0"/>
              <a:t> {</a:t>
            </a:r>
          </a:p>
          <a:p>
            <a:r>
              <a:rPr lang="ko-KR" altLang="en-US" dirty="0"/>
              <a:t>	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ERROR = "error/500.do";</a:t>
            </a:r>
          </a:p>
          <a:p>
            <a:r>
              <a:rPr lang="ko-KR" altLang="en-US" dirty="0"/>
              <a:t>	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LIST = "</a:t>
            </a:r>
            <a:r>
              <a:rPr lang="ko-KR" altLang="en-US" dirty="0" err="1"/>
              <a:t>auth</a:t>
            </a:r>
            <a:r>
              <a:rPr lang="ko-KR" altLang="en-US" dirty="0"/>
              <a:t>/</a:t>
            </a:r>
            <a:r>
              <a:rPr lang="ko-KR" altLang="en-US" dirty="0" err="1"/>
              <a:t>login</a:t>
            </a:r>
            <a:r>
              <a:rPr lang="ko-KR" altLang="en-US" dirty="0"/>
              <a:t>";</a:t>
            </a:r>
          </a:p>
          <a:p>
            <a:r>
              <a:rPr lang="ko-KR" altLang="en-US" dirty="0"/>
              <a:t>	</a:t>
            </a:r>
            <a:r>
              <a:rPr lang="ko-KR" altLang="en-US" dirty="0" err="1"/>
              <a:t>static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REDIRECT_LIST = "</a:t>
            </a:r>
            <a:r>
              <a:rPr lang="ko-KR" altLang="en-US" dirty="0" err="1"/>
              <a:t>redirect</a:t>
            </a:r>
            <a:r>
              <a:rPr lang="ko-KR" altLang="en-US" dirty="0"/>
              <a:t>:/</a:t>
            </a:r>
            <a:r>
              <a:rPr lang="ko-KR" altLang="en-US" dirty="0" err="1"/>
              <a:t>auth</a:t>
            </a:r>
            <a:r>
              <a:rPr lang="ko-KR" altLang="en-US" dirty="0"/>
              <a:t>/</a:t>
            </a:r>
            <a:r>
              <a:rPr lang="ko-KR" altLang="en-US" dirty="0" err="1"/>
              <a:t>login.do</a:t>
            </a:r>
            <a:r>
              <a:rPr lang="ko-KR" altLang="en-US" dirty="0"/>
              <a:t>";</a:t>
            </a:r>
          </a:p>
          <a:p>
            <a:r>
              <a:rPr lang="ko-KR" altLang="en-US" dirty="0"/>
              <a:t>}</a:t>
            </a:r>
          </a:p>
          <a:p>
            <a:endParaRPr lang="ko-KR" altLang="en-US" dirty="0"/>
          </a:p>
          <a:p>
            <a:r>
              <a:rPr lang="ko-KR" altLang="en-US" dirty="0" err="1"/>
              <a:t>LOGGER.error</a:t>
            </a:r>
            <a:r>
              <a:rPr lang="ko-KR" altLang="en-US" dirty="0"/>
              <a:t>("[{}] </a:t>
            </a:r>
            <a:r>
              <a:rPr lang="ko-KR" altLang="en-US" dirty="0" err="1"/>
              <a:t>Failed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~~~~", LOG_PREFIX);</a:t>
            </a:r>
          </a:p>
          <a:p>
            <a:r>
              <a:rPr lang="ko-KR" altLang="en-US" dirty="0" err="1"/>
              <a:t>return</a:t>
            </a:r>
            <a:r>
              <a:rPr lang="ko-KR" altLang="en-US" dirty="0"/>
              <a:t> </a:t>
            </a:r>
            <a:r>
              <a:rPr lang="ko-KR" altLang="en-US" dirty="0" err="1"/>
              <a:t>ViewNames.ERROR</a:t>
            </a:r>
            <a:r>
              <a:rPr lang="ko-KR" alt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257877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</a:t>
            </a:r>
            <a:r>
              <a:rPr lang="en-US" dirty="0" err="1"/>
              <a:t>service</a:t>
            </a:r>
            <a:r>
              <a:rPr dirty="0" err="1"/>
              <a:t>.</a:t>
            </a:r>
            <a:r>
              <a:rPr lang="en-US" dirty="0" err="1"/>
              <a:t>UserService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51333C-BB92-405C-8D09-FD2EEC31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3" y="1387594"/>
            <a:ext cx="7451927" cy="15110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8176EB0-A0FE-47C8-99D9-9678C6E5DAC5}"/>
              </a:ext>
            </a:extLst>
          </p:cNvPr>
          <p:cNvSpPr/>
          <p:nvPr/>
        </p:nvSpPr>
        <p:spPr>
          <a:xfrm>
            <a:off x="720090" y="1945382"/>
            <a:ext cx="4309110" cy="3086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EE0FA4-2A25-49F8-90F4-8C28EFF3667C}"/>
              </a:ext>
            </a:extLst>
          </p:cNvPr>
          <p:cNvSpPr txBox="1">
            <a:spLocks/>
          </p:cNvSpPr>
          <p:nvPr/>
        </p:nvSpPr>
        <p:spPr>
          <a:xfrm>
            <a:off x="327433" y="3116490"/>
            <a:ext cx="4880178" cy="4886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ko-KR" altLang="en-US" dirty="0"/>
              <a:t>패키지</a:t>
            </a:r>
            <a:r>
              <a:rPr lang="en-US" altLang="ko-KR" dirty="0"/>
              <a:t>: </a:t>
            </a:r>
            <a:r>
              <a:rPr lang="en-US" dirty="0" err="1"/>
              <a:t>com.ylove.serviceImpl.UserServiceimpl</a:t>
            </a:r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290168-91E4-4C3F-826B-F8303511B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93" y="3577511"/>
            <a:ext cx="5388844" cy="11617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AEDAE6-0F9E-4694-B9D9-13EB5A773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4887971"/>
            <a:ext cx="4624267" cy="87274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A75C77-DA08-407A-B026-9041FFE54F85}"/>
              </a:ext>
            </a:extLst>
          </p:cNvPr>
          <p:cNvSpPr/>
          <p:nvPr/>
        </p:nvSpPr>
        <p:spPr>
          <a:xfrm>
            <a:off x="720090" y="4887970"/>
            <a:ext cx="4732020" cy="8727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74822BB-1E85-4B5D-9B1B-6638A433B5D5}"/>
              </a:ext>
            </a:extLst>
          </p:cNvPr>
          <p:cNvCxnSpPr>
            <a:stCxn id="7" idx="3"/>
            <a:endCxn id="23" idx="3"/>
          </p:cNvCxnSpPr>
          <p:nvPr/>
        </p:nvCxnSpPr>
        <p:spPr>
          <a:xfrm>
            <a:off x="5029200" y="2099687"/>
            <a:ext cx="422910" cy="3224658"/>
          </a:xfrm>
          <a:prstGeom prst="bentConnector3">
            <a:avLst>
              <a:gd name="adj1" fmla="val 15405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6048484" y="2193160"/>
            <a:ext cx="5575826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서비스 인터페이스에 정의한 함수 처리</a:t>
            </a:r>
            <a:endParaRPr lang="en-US" altLang="ko-KR" b="1" dirty="0">
              <a:solidFill>
                <a:srgbClr val="0000CC"/>
              </a:solidFill>
            </a:endParaRPr>
          </a:p>
          <a:p>
            <a:endParaRPr lang="en-US" altLang="ko-KR" b="1" dirty="0">
              <a:solidFill>
                <a:srgbClr val="0000CC"/>
              </a:solidFill>
            </a:endParaRPr>
          </a:p>
          <a:p>
            <a:r>
              <a:rPr lang="en-US" altLang="ko-KR" b="1" dirty="0">
                <a:solidFill>
                  <a:srgbClr val="0000CC"/>
                </a:solidFill>
              </a:rPr>
              <a:t>(</a:t>
            </a:r>
            <a:r>
              <a:rPr lang="ko-KR" altLang="en-US" b="1" dirty="0">
                <a:solidFill>
                  <a:srgbClr val="0000CC"/>
                </a:solidFill>
              </a:rPr>
              <a:t>헤더</a:t>
            </a:r>
            <a:r>
              <a:rPr lang="en-US" altLang="ko-KR" b="1" dirty="0">
                <a:solidFill>
                  <a:srgbClr val="0000CC"/>
                </a:solidFill>
              </a:rPr>
              <a:t>)</a:t>
            </a:r>
            <a:r>
              <a:rPr lang="ko-KR" altLang="en-US" b="1" dirty="0">
                <a:solidFill>
                  <a:srgbClr val="0000CC"/>
                </a:solidFill>
              </a:rPr>
              <a:t> 함수의 형식에 맞게 서비스 구현체에서 구현한다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  <a:p>
            <a:r>
              <a:rPr lang="ko-KR" altLang="en-US" b="1" dirty="0">
                <a:solidFill>
                  <a:srgbClr val="0000CC"/>
                </a:solidFill>
              </a:rPr>
              <a:t>서비스 구현체에서는 </a:t>
            </a:r>
            <a:r>
              <a:rPr lang="ko-KR" altLang="en-US" b="1" dirty="0" err="1">
                <a:solidFill>
                  <a:srgbClr val="0000CC"/>
                </a:solidFill>
              </a:rPr>
              <a:t>매퍼</a:t>
            </a:r>
            <a:r>
              <a:rPr lang="ko-KR" altLang="en-US" b="1" dirty="0">
                <a:solidFill>
                  <a:srgbClr val="0000CC"/>
                </a:solidFill>
              </a:rPr>
              <a:t> 인터페이스에 정의한 함수를 호출한다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  <a:p>
            <a:endParaRPr lang="ko-KR" altLang="en-US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26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EA9BCA0-F117-489F-9E9A-935AC1AE3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5389676"/>
            <a:ext cx="6643765" cy="6754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5DBF93-2BBC-43E7-AA70-6FEFFB0F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91" y="3536826"/>
            <a:ext cx="5476989" cy="18141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4C4450-EDE6-42E0-8341-D3AAC0EFC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92" y="1427941"/>
            <a:ext cx="4758635" cy="16885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2주차 · </a:t>
            </a:r>
            <a:r>
              <a:rPr dirty="0" err="1"/>
              <a:t>컨트롤러</a:t>
            </a:r>
            <a:r>
              <a:rPr dirty="0"/>
              <a:t> · </a:t>
            </a:r>
            <a:r>
              <a:rPr dirty="0" err="1"/>
              <a:t>AuthController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</a:t>
            </a:r>
            <a:r>
              <a:rPr lang="en-US" dirty="0" err="1"/>
              <a:t>mapper</a:t>
            </a:r>
            <a:r>
              <a:rPr dirty="0" err="1"/>
              <a:t>.</a:t>
            </a:r>
            <a:r>
              <a:rPr lang="en-US" dirty="0" err="1"/>
              <a:t>UserMapper</a:t>
            </a:r>
            <a:endParaRPr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176EB0-A0FE-47C8-99D9-9678C6E5DAC5}"/>
              </a:ext>
            </a:extLst>
          </p:cNvPr>
          <p:cNvSpPr/>
          <p:nvPr/>
        </p:nvSpPr>
        <p:spPr>
          <a:xfrm>
            <a:off x="720090" y="1982362"/>
            <a:ext cx="4309110" cy="271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EE0FA4-2A25-49F8-90F4-8C28EFF3667C}"/>
              </a:ext>
            </a:extLst>
          </p:cNvPr>
          <p:cNvSpPr txBox="1">
            <a:spLocks/>
          </p:cNvSpPr>
          <p:nvPr/>
        </p:nvSpPr>
        <p:spPr>
          <a:xfrm>
            <a:off x="327433" y="3116490"/>
            <a:ext cx="4880178" cy="4886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altLang="ko-KR" dirty="0"/>
              <a:t>XML: </a:t>
            </a:r>
            <a:r>
              <a:rPr lang="en-US" altLang="ko-KR" dirty="0" err="1"/>
              <a:t>egovframework</a:t>
            </a:r>
            <a:r>
              <a:rPr lang="en-US" altLang="ko-KR" dirty="0"/>
              <a:t>/</a:t>
            </a:r>
            <a:r>
              <a:rPr lang="en-US" altLang="ko-KR" dirty="0" err="1"/>
              <a:t>sqlmap</a:t>
            </a:r>
            <a:r>
              <a:rPr lang="en-US" altLang="ko-KR" dirty="0"/>
              <a:t>/mappers</a:t>
            </a:r>
            <a:endParaRPr 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A75C77-DA08-407A-B026-9041FFE54F85}"/>
              </a:ext>
            </a:extLst>
          </p:cNvPr>
          <p:cNvSpPr/>
          <p:nvPr/>
        </p:nvSpPr>
        <p:spPr>
          <a:xfrm>
            <a:off x="720090" y="5373794"/>
            <a:ext cx="6643764" cy="691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74822BB-1E85-4B5D-9B1B-6638A433B5D5}"/>
              </a:ext>
            </a:extLst>
          </p:cNvPr>
          <p:cNvCxnSpPr>
            <a:cxnSpLocks/>
            <a:stCxn id="7" idx="3"/>
            <a:endCxn id="23" idx="3"/>
          </p:cNvCxnSpPr>
          <p:nvPr/>
        </p:nvCxnSpPr>
        <p:spPr>
          <a:xfrm>
            <a:off x="5029200" y="2118177"/>
            <a:ext cx="2334654" cy="3601273"/>
          </a:xfrm>
          <a:prstGeom prst="bentConnector3">
            <a:avLst>
              <a:gd name="adj1" fmla="val 10979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5522704" y="2726143"/>
            <a:ext cx="557582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0000CC"/>
                </a:solidFill>
              </a:rPr>
              <a:t>매퍼</a:t>
            </a:r>
            <a:r>
              <a:rPr lang="ko-KR" altLang="en-US" b="1" dirty="0">
                <a:solidFill>
                  <a:srgbClr val="0000CC"/>
                </a:solidFill>
              </a:rPr>
              <a:t> 인터페이스에 정의한 함수 처리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함수명을 기반으로 </a:t>
            </a:r>
            <a:r>
              <a:rPr lang="en-US" altLang="ko-KR" b="1" dirty="0">
                <a:solidFill>
                  <a:srgbClr val="0000CC"/>
                </a:solidFill>
              </a:rPr>
              <a:t>XML</a:t>
            </a:r>
            <a:r>
              <a:rPr lang="ko-KR" altLang="en-US" b="1" dirty="0">
                <a:solidFill>
                  <a:srgbClr val="0000CC"/>
                </a:solidFill>
              </a:rPr>
              <a:t>에서 </a:t>
            </a:r>
            <a:r>
              <a:rPr lang="en-US" altLang="ko-KR" b="1" dirty="0">
                <a:solidFill>
                  <a:srgbClr val="0000CC"/>
                </a:solidFill>
              </a:rPr>
              <a:t>Query</a:t>
            </a:r>
            <a:r>
              <a:rPr lang="ko-KR" altLang="en-US" b="1" dirty="0">
                <a:solidFill>
                  <a:srgbClr val="0000CC"/>
                </a:solidFill>
              </a:rPr>
              <a:t>문을 수행하여 결과를 함수 형식으로 전달 받는다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80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3DBD1-DB34-4B1A-AFE9-35413199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· </a:t>
            </a:r>
            <a:r>
              <a:rPr lang="ko-KR" altLang="en-US" dirty="0"/>
              <a:t>컨트롤러 </a:t>
            </a:r>
            <a:r>
              <a:rPr lang="en-US" altLang="ko-KR" dirty="0"/>
              <a:t>· </a:t>
            </a:r>
            <a:r>
              <a:rPr lang="en-US" altLang="ko-KR" dirty="0" err="1"/>
              <a:t>AuthController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F799EB-B482-4C36-A535-99DC0DE9D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3974807"/>
            <a:ext cx="6877050" cy="609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F1B93A-3D32-4B63-A656-3731DA172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1480875"/>
            <a:ext cx="6267450" cy="146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D7D326-B516-4F0A-8D0A-2324E86CC9C4}"/>
              </a:ext>
            </a:extLst>
          </p:cNvPr>
          <p:cNvSpPr txBox="1"/>
          <p:nvPr/>
        </p:nvSpPr>
        <p:spPr>
          <a:xfrm>
            <a:off x="361507" y="983510"/>
            <a:ext cx="2291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blog_user</a:t>
            </a:r>
            <a:r>
              <a:rPr lang="ko-KR" altLang="en-US" dirty="0"/>
              <a:t> </a:t>
            </a:r>
            <a:r>
              <a:rPr lang="en-US" altLang="ko-KR" dirty="0"/>
              <a:t>table </a:t>
            </a:r>
            <a:r>
              <a:rPr lang="ko-KR" altLang="en-US" dirty="0"/>
              <a:t>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D63D2-D881-45A7-8A21-8295042F21DD}"/>
              </a:ext>
            </a:extLst>
          </p:cNvPr>
          <p:cNvSpPr txBox="1"/>
          <p:nvPr/>
        </p:nvSpPr>
        <p:spPr>
          <a:xfrm>
            <a:off x="361507" y="342900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 * FROM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blog_user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WHERE email = #{email}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28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3DBD1-DB34-4B1A-AFE9-35413199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· </a:t>
            </a:r>
            <a:r>
              <a:rPr lang="ko-KR" altLang="en-US" dirty="0"/>
              <a:t>컨트롤러 </a:t>
            </a:r>
            <a:r>
              <a:rPr lang="en-US" altLang="ko-KR" dirty="0"/>
              <a:t>· </a:t>
            </a:r>
            <a:r>
              <a:rPr lang="en-US" altLang="ko-KR" dirty="0" err="1"/>
              <a:t>AuthController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BAB8D-633A-4F68-9E28-4B8A720FC2CC}"/>
              </a:ext>
            </a:extLst>
          </p:cNvPr>
          <p:cNvSpPr txBox="1"/>
          <p:nvPr/>
        </p:nvSpPr>
        <p:spPr>
          <a:xfrm>
            <a:off x="265815" y="2719102"/>
            <a:ext cx="75916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selectUserByEmail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parameterType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 * FROM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blog_user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WHERE email = #{email}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4B365-CD3B-4CEC-9D55-EFC2E56A5D85}"/>
              </a:ext>
            </a:extLst>
          </p:cNvPr>
          <p:cNvSpPr txBox="1"/>
          <p:nvPr/>
        </p:nvSpPr>
        <p:spPr>
          <a:xfrm>
            <a:off x="361507" y="3717364"/>
            <a:ext cx="609777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com.ylove.vo.BlogUserVO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"nickname"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"nickname"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useKakaoAuth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use_kakao_auth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kakaoId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kakao_id</a:t>
            </a:r>
            <a:r>
              <a:rPr lang="en-US" altLang="ko-KR" sz="14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dirty="0" err="1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0A2024-6238-4454-B180-D8810157B3C5}"/>
              </a:ext>
            </a:extLst>
          </p:cNvPr>
          <p:cNvSpPr/>
          <p:nvPr/>
        </p:nvSpPr>
        <p:spPr>
          <a:xfrm>
            <a:off x="5656521" y="2719102"/>
            <a:ext cx="1881963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4FF4A241-5EF8-4E37-9AC9-EF5AB911C8F2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5400000">
            <a:off x="3776717" y="896574"/>
            <a:ext cx="685473" cy="495610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924326-5F23-44E7-955A-A8A5CAB993A6}"/>
              </a:ext>
            </a:extLst>
          </p:cNvPr>
          <p:cNvSpPr/>
          <p:nvPr/>
        </p:nvSpPr>
        <p:spPr>
          <a:xfrm>
            <a:off x="539603" y="3717361"/>
            <a:ext cx="2203597" cy="3127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F4BD8-DF18-4A1B-90AA-01368488C31E}"/>
              </a:ext>
            </a:extLst>
          </p:cNvPr>
          <p:cNvSpPr txBox="1"/>
          <p:nvPr/>
        </p:nvSpPr>
        <p:spPr>
          <a:xfrm>
            <a:off x="361507" y="1141345"/>
            <a:ext cx="44213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selectUserByEmail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2E1700-7E67-40D0-AB0F-3D75A5BC74B6}"/>
              </a:ext>
            </a:extLst>
          </p:cNvPr>
          <p:cNvSpPr/>
          <p:nvPr/>
        </p:nvSpPr>
        <p:spPr>
          <a:xfrm>
            <a:off x="1528431" y="1141345"/>
            <a:ext cx="1714500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9BB5E7-4855-4BFC-B81D-0C6EFB67368A}"/>
              </a:ext>
            </a:extLst>
          </p:cNvPr>
          <p:cNvSpPr/>
          <p:nvPr/>
        </p:nvSpPr>
        <p:spPr>
          <a:xfrm>
            <a:off x="3262203" y="1141345"/>
            <a:ext cx="1299164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F9A721-A982-41BF-BB9F-BBFEF6F3E694}"/>
              </a:ext>
            </a:extLst>
          </p:cNvPr>
          <p:cNvSpPr/>
          <p:nvPr/>
        </p:nvSpPr>
        <p:spPr>
          <a:xfrm>
            <a:off x="1528431" y="2727203"/>
            <a:ext cx="1714500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E61079-999A-4D82-882B-80806B5C603C}"/>
              </a:ext>
            </a:extLst>
          </p:cNvPr>
          <p:cNvSpPr/>
          <p:nvPr/>
        </p:nvSpPr>
        <p:spPr>
          <a:xfrm>
            <a:off x="3355903" y="2727203"/>
            <a:ext cx="2226190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B125C4F9-0E00-4CEB-A855-EF276E86A821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 rot="5400000">
            <a:off x="1749145" y="2090667"/>
            <a:ext cx="1273072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6BF39C4-DE8F-4CCA-9591-5A1CDCB8F156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 rot="16200000" flipH="1">
            <a:off x="3553855" y="1812060"/>
            <a:ext cx="1273072" cy="5572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54C814-9AA7-442F-BC74-3F65A6DE656A}"/>
              </a:ext>
            </a:extLst>
          </p:cNvPr>
          <p:cNvSpPr txBox="1"/>
          <p:nvPr/>
        </p:nvSpPr>
        <p:spPr>
          <a:xfrm>
            <a:off x="1592244" y="178924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함수명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7DDC81-6999-4101-BD5E-CF4D1F661920}"/>
              </a:ext>
            </a:extLst>
          </p:cNvPr>
          <p:cNvSpPr txBox="1"/>
          <p:nvPr/>
        </p:nvSpPr>
        <p:spPr>
          <a:xfrm>
            <a:off x="2767891" y="2114741"/>
            <a:ext cx="1701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파라미터 형식과 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896C6E-7FD8-4AA9-93EF-1C4A410B4929}"/>
              </a:ext>
            </a:extLst>
          </p:cNvPr>
          <p:cNvSpPr txBox="1"/>
          <p:nvPr/>
        </p:nvSpPr>
        <p:spPr>
          <a:xfrm>
            <a:off x="404721" y="14814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구조체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F5E8CA-8785-4596-B229-7E8F9A7B3FE9}"/>
              </a:ext>
            </a:extLst>
          </p:cNvPr>
          <p:cNvSpPr txBox="1"/>
          <p:nvPr/>
        </p:nvSpPr>
        <p:spPr>
          <a:xfrm>
            <a:off x="4885762" y="1146354"/>
            <a:ext cx="4536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해석</a:t>
            </a:r>
            <a:r>
              <a:rPr lang="en-US" altLang="ko-KR" sz="1400" dirty="0"/>
              <a:t>: </a:t>
            </a:r>
            <a:r>
              <a:rPr lang="ko-KR" altLang="en-US" sz="1400" dirty="0"/>
              <a:t>함수</a:t>
            </a:r>
            <a:r>
              <a:rPr lang="en-US" altLang="ko-KR" sz="1400" dirty="0"/>
              <a:t>(</a:t>
            </a:r>
            <a:r>
              <a:rPr lang="ko-KR" altLang="en-US" sz="1400" dirty="0"/>
              <a:t>파라미터</a:t>
            </a:r>
            <a:r>
              <a:rPr lang="en-US" altLang="ko-KR" sz="1400" dirty="0"/>
              <a:t>)</a:t>
            </a:r>
            <a:r>
              <a:rPr lang="ko-KR" altLang="en-US" sz="1400" dirty="0"/>
              <a:t>를 실행하여 </a:t>
            </a:r>
            <a:r>
              <a:rPr lang="ko-KR" altLang="en-US" sz="1400" b="1" dirty="0"/>
              <a:t>구조체</a:t>
            </a:r>
            <a:r>
              <a:rPr lang="ko-KR" altLang="en-US" sz="1400" dirty="0"/>
              <a:t>에 값을 넣는다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2EACDB-8109-4EE1-A07C-3C3F3CA3DFBD}"/>
              </a:ext>
            </a:extLst>
          </p:cNvPr>
          <p:cNvSpPr txBox="1"/>
          <p:nvPr/>
        </p:nvSpPr>
        <p:spPr>
          <a:xfrm>
            <a:off x="8197018" y="1635351"/>
            <a:ext cx="32313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Long </a:t>
            </a:r>
            <a:r>
              <a:rPr lang="en-US" altLang="ko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US" altLang="ko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US" altLang="ko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US" altLang="ko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useKakaoAuth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US" altLang="ko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kakaoId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Getter /Setter 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함수를 활용하여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데이터 처리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3AEAA03-C599-489A-A04B-9DFFF9F85E66}"/>
              </a:ext>
            </a:extLst>
          </p:cNvPr>
          <p:cNvSpPr/>
          <p:nvPr/>
        </p:nvSpPr>
        <p:spPr>
          <a:xfrm>
            <a:off x="7409121" y="1136017"/>
            <a:ext cx="787897" cy="31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1FF98BE-8B08-4B5F-85F7-2F7EC0354C65}"/>
              </a:ext>
            </a:extLst>
          </p:cNvPr>
          <p:cNvCxnSpPr>
            <a:stCxn id="35" idx="2"/>
            <a:endCxn id="33" idx="1"/>
          </p:cNvCxnSpPr>
          <p:nvPr/>
        </p:nvCxnSpPr>
        <p:spPr>
          <a:xfrm rot="16200000" flipH="1">
            <a:off x="7237356" y="2014517"/>
            <a:ext cx="1525376" cy="39394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9586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3DBD1-DB34-4B1A-AFE9-35413199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· </a:t>
            </a:r>
            <a:r>
              <a:rPr lang="ko-KR" altLang="en-US" dirty="0"/>
              <a:t>컨트롤러 </a:t>
            </a:r>
            <a:r>
              <a:rPr lang="en-US" altLang="ko-KR" dirty="0"/>
              <a:t>· </a:t>
            </a:r>
            <a:r>
              <a:rPr lang="en-US" altLang="ko-KR" dirty="0" err="1"/>
              <a:t>AuthController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1476DB-03EB-4C31-83DD-81A4258DABFD}"/>
              </a:ext>
            </a:extLst>
          </p:cNvPr>
          <p:cNvSpPr txBox="1"/>
          <p:nvPr/>
        </p:nvSpPr>
        <p:spPr>
          <a:xfrm>
            <a:off x="6620542" y="3633021"/>
            <a:ext cx="421315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getUserByEmail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FA4E0F-E102-4061-A88F-E3C6FB7E8003}"/>
              </a:ext>
            </a:extLst>
          </p:cNvPr>
          <p:cNvSpPr txBox="1"/>
          <p:nvPr/>
        </p:nvSpPr>
        <p:spPr>
          <a:xfrm>
            <a:off x="361507" y="3829476"/>
            <a:ext cx="505312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@Override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getUserByEmail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userMapper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.selectUserByEmail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465019-8D23-4A70-AB31-F5A522900C48}"/>
              </a:ext>
            </a:extLst>
          </p:cNvPr>
          <p:cNvSpPr txBox="1"/>
          <p:nvPr/>
        </p:nvSpPr>
        <p:spPr>
          <a:xfrm>
            <a:off x="361507" y="1173807"/>
            <a:ext cx="610220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BlogUserVO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.getUserByEmail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trimmedEmail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8E69AD09-86FB-4894-80F4-CDDE5266E06D}"/>
              </a:ext>
            </a:extLst>
          </p:cNvPr>
          <p:cNvCxnSpPr>
            <a:cxnSpLocks/>
            <a:stCxn id="34" idx="2"/>
            <a:endCxn id="26" idx="0"/>
          </p:cNvCxnSpPr>
          <p:nvPr/>
        </p:nvCxnSpPr>
        <p:spPr>
          <a:xfrm rot="16200000" flipH="1">
            <a:off x="4994146" y="-99952"/>
            <a:ext cx="2151437" cy="531450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1CD18D5F-FE03-45C7-A2F3-1A99E5554A4C}"/>
              </a:ext>
            </a:extLst>
          </p:cNvPr>
          <p:cNvCxnSpPr>
            <a:stCxn id="26" idx="1"/>
            <a:endCxn id="32" idx="3"/>
          </p:cNvCxnSpPr>
          <p:nvPr/>
        </p:nvCxnSpPr>
        <p:spPr>
          <a:xfrm rot="10800000" flipV="1">
            <a:off x="5414630" y="3786910"/>
            <a:ext cx="1205912" cy="51962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6EA4C27-1BF1-4A6A-9C93-1B3209851836}"/>
              </a:ext>
            </a:extLst>
          </p:cNvPr>
          <p:cNvSpPr txBox="1"/>
          <p:nvPr/>
        </p:nvSpPr>
        <p:spPr>
          <a:xfrm>
            <a:off x="7378997" y="1179031"/>
            <a:ext cx="290268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ADMIN | owner |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blogMember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A15829-A68A-4839-B77D-FF74517D8E3A}"/>
              </a:ext>
            </a:extLst>
          </p:cNvPr>
          <p:cNvSpPr txBox="1"/>
          <p:nvPr/>
        </p:nvSpPr>
        <p:spPr>
          <a:xfrm>
            <a:off x="8727117" y="1912770"/>
            <a:ext cx="169677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페이지 요청</a:t>
            </a:r>
            <a:endParaRPr lang="ko-KR" altLang="en-US" sz="14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DBD082C-57C7-4552-A3BE-2B62F9FDBB4A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463712" y="1327696"/>
            <a:ext cx="915285" cy="52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54346BC-7895-4045-876F-2E87DB6EFBCA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 rot="16200000" flipH="1">
            <a:off x="8989943" y="1327206"/>
            <a:ext cx="425962" cy="74516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170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8989124" y="906538"/>
            <a:ext cx="283668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카카오 </a:t>
            </a:r>
            <a:r>
              <a:rPr lang="en-US" altLang="ko-KR" b="1" dirty="0">
                <a:solidFill>
                  <a:srgbClr val="0000CC"/>
                </a:solidFill>
              </a:rPr>
              <a:t>OAuth2 </a:t>
            </a:r>
            <a:r>
              <a:rPr lang="ko-KR" altLang="en-US" b="1" dirty="0">
                <a:solidFill>
                  <a:srgbClr val="0000CC"/>
                </a:solidFill>
              </a:rPr>
              <a:t>인증 처리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328A9AE-F122-4B98-9F28-BD7950DD1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275870"/>
            <a:ext cx="8627617" cy="5064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0F9FD57-4E07-4DA9-90CF-786DFE50F7FD}"/>
              </a:ext>
            </a:extLst>
          </p:cNvPr>
          <p:cNvSpPr txBox="1"/>
          <p:nvPr/>
        </p:nvSpPr>
        <p:spPr>
          <a:xfrm>
            <a:off x="8669084" y="2038108"/>
            <a:ext cx="315672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카카오 로그인 요청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키 정보 생성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카카오 인증으로 </a:t>
            </a:r>
            <a:r>
              <a:rPr lang="en-US" altLang="ko-KR" b="1" dirty="0">
                <a:solidFill>
                  <a:srgbClr val="0000CC"/>
                </a:solidFill>
              </a:rPr>
              <a:t>Redirect</a:t>
            </a:r>
          </a:p>
          <a:p>
            <a:r>
              <a:rPr lang="ko-KR" altLang="en-US" b="1" dirty="0">
                <a:solidFill>
                  <a:srgbClr val="0000CC"/>
                </a:solidFill>
              </a:rPr>
              <a:t>카카오 인증 및 동의 요청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카카오에서 결과 받음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검증 결과 처리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접근 토큰 요청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카카오에서 토큰 발급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사용자 정보요청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카카오에서 사용자 정보제공 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 err="1">
                <a:solidFill>
                  <a:srgbClr val="0000CC"/>
                </a:solidFill>
              </a:rPr>
              <a:t>디비</a:t>
            </a:r>
            <a:r>
              <a:rPr lang="ko-KR" altLang="en-US" b="1" dirty="0">
                <a:solidFill>
                  <a:srgbClr val="0000CC"/>
                </a:solidFill>
              </a:rPr>
              <a:t> 테이블에 넣고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세션에 등록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로그인으로 </a:t>
            </a:r>
            <a:r>
              <a:rPr lang="en-US" altLang="ko-KR" b="1" dirty="0">
                <a:solidFill>
                  <a:srgbClr val="0000CC"/>
                </a:solidFill>
              </a:rPr>
              <a:t>redirect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9350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카카오 인증 로그인 구현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0994" y="968192"/>
            <a:ext cx="11530012" cy="309344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시작</a:t>
            </a:r>
            <a:r>
              <a:rPr dirty="0"/>
              <a:t>: GET /auth/kakao/login.do → state </a:t>
            </a:r>
            <a:r>
              <a:rPr dirty="0" err="1"/>
              <a:t>세션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→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인가</a:t>
            </a:r>
            <a:r>
              <a:rPr dirty="0"/>
              <a:t> URL redirect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콜백</a:t>
            </a:r>
            <a:r>
              <a:rPr dirty="0"/>
              <a:t>: GET /auth/</a:t>
            </a:r>
            <a:r>
              <a:rPr dirty="0" err="1"/>
              <a:t>kakao</a:t>
            </a:r>
            <a:r>
              <a:rPr dirty="0"/>
              <a:t>/</a:t>
            </a:r>
            <a:r>
              <a:rPr dirty="0" err="1"/>
              <a:t>callback.do?code&amp;state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state </a:t>
            </a:r>
            <a:r>
              <a:rPr dirty="0" err="1"/>
              <a:t>검증</a:t>
            </a:r>
            <a:r>
              <a:rPr dirty="0"/>
              <a:t> 후 POST https://kauth.kakao.com/oauth/token (</a:t>
            </a:r>
            <a:r>
              <a:rPr dirty="0" err="1"/>
              <a:t>access_token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GET https://kapi.kakao.com/v2/user/me (Bearer)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kakao</a:t>
            </a:r>
            <a:r>
              <a:rPr dirty="0"/>
              <a:t> id, email, nickname </a:t>
            </a:r>
            <a:r>
              <a:rPr dirty="0" err="1"/>
              <a:t>추출</a:t>
            </a:r>
            <a:r>
              <a:rPr dirty="0"/>
              <a:t> → </a:t>
            </a:r>
            <a:r>
              <a:rPr dirty="0" err="1"/>
              <a:t>registerKakaoUser</a:t>
            </a:r>
            <a:r>
              <a:rPr dirty="0"/>
              <a:t> (</a:t>
            </a:r>
            <a:r>
              <a:rPr dirty="0" err="1"/>
              <a:t>없으면</a:t>
            </a:r>
            <a:r>
              <a:rPr dirty="0"/>
              <a:t> insert)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session.setAttribute</a:t>
            </a:r>
            <a:r>
              <a:rPr dirty="0"/>
              <a:t>("</a:t>
            </a:r>
            <a:r>
              <a:rPr dirty="0" err="1"/>
              <a:t>loginUser</a:t>
            </a:r>
            <a:r>
              <a:rPr dirty="0"/>
              <a:t>", user) → redirect /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환경변수</a:t>
            </a:r>
            <a:r>
              <a:rPr dirty="0"/>
              <a:t> KAKAO_REST_API_KEY, Redirect URI </a:t>
            </a:r>
            <a:r>
              <a:rPr dirty="0" err="1"/>
              <a:t>콘솔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필수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79520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lang="ko-KR" altLang="en-US" dirty="0"/>
              <a:t>페이지</a:t>
            </a:r>
            <a:r>
              <a:rPr lang="en-US" altLang="ko-KR" dirty="0"/>
              <a:t>: WEB-INF/</a:t>
            </a:r>
            <a:r>
              <a:rPr lang="en-US" altLang="ko-KR" dirty="0" err="1"/>
              <a:t>jsp</a:t>
            </a:r>
            <a:r>
              <a:rPr lang="en-US" altLang="ko-KR" dirty="0"/>
              <a:t>/auth/</a:t>
            </a:r>
            <a:r>
              <a:rPr lang="en-US" altLang="ko-KR" dirty="0" err="1"/>
              <a:t>login.jsp</a:t>
            </a:r>
            <a:endParaRPr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5F6171-BB50-4184-9E00-592B1BD0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3" y="1387594"/>
            <a:ext cx="6286067" cy="473130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CB2110-4B2A-42EC-BE98-702508776784}"/>
              </a:ext>
            </a:extLst>
          </p:cNvPr>
          <p:cNvSpPr/>
          <p:nvPr/>
        </p:nvSpPr>
        <p:spPr>
          <a:xfrm>
            <a:off x="742950" y="5086350"/>
            <a:ext cx="3188970" cy="708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83908-9B3C-42D9-9E28-3E206170E7CE}"/>
              </a:ext>
            </a:extLst>
          </p:cNvPr>
          <p:cNvSpPr txBox="1"/>
          <p:nvPr/>
        </p:nvSpPr>
        <p:spPr>
          <a:xfrm>
            <a:off x="5791101" y="3059668"/>
            <a:ext cx="5618751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@RequestMapping(“/auth”)</a:t>
            </a:r>
          </a:p>
          <a:p>
            <a:r>
              <a:rPr lang="en-US" altLang="ko-KR" b="1" dirty="0" err="1">
                <a:solidFill>
                  <a:srgbClr val="0000CC"/>
                </a:solidFill>
              </a:rPr>
              <a:t>AuthController</a:t>
            </a:r>
            <a:r>
              <a:rPr lang="ko-KR" altLang="en-US" b="1" dirty="0">
                <a:solidFill>
                  <a:srgbClr val="0000CC"/>
                </a:solidFill>
              </a:rPr>
              <a:t>의 </a:t>
            </a:r>
            <a:r>
              <a:rPr lang="en-US" altLang="ko-KR" b="1" dirty="0">
                <a:solidFill>
                  <a:srgbClr val="0000CC"/>
                </a:solidFill>
              </a:rPr>
              <a:t>/kakao/login.do </a:t>
            </a:r>
            <a:r>
              <a:rPr lang="ko-KR" altLang="en-US" b="1" dirty="0">
                <a:solidFill>
                  <a:srgbClr val="0000CC"/>
                </a:solidFill>
              </a:rPr>
              <a:t>라우팅 호출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B80A93B-3291-4729-B192-C31E0EE1F210}"/>
              </a:ext>
            </a:extLst>
          </p:cNvPr>
          <p:cNvCxnSpPr>
            <a:stCxn id="11" idx="3"/>
            <a:endCxn id="13" idx="2"/>
          </p:cNvCxnSpPr>
          <p:nvPr/>
        </p:nvCxnSpPr>
        <p:spPr>
          <a:xfrm flipV="1">
            <a:off x="3931920" y="3705999"/>
            <a:ext cx="4668557" cy="173468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436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9F70E2-7465-4355-B99D-C925D6D0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0" y="1450855"/>
            <a:ext cx="5191125" cy="40195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4842411" y="1008567"/>
            <a:ext cx="561875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카카오에 발급받은 키 검증 처리 후 사용자 검증 진행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E4F8EA-7FEB-4ACD-BC9F-2F04CAA5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25" y="2235051"/>
            <a:ext cx="6011228" cy="21309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C20D60-FF38-4295-BC58-86CB63C171ED}"/>
              </a:ext>
            </a:extLst>
          </p:cNvPr>
          <p:cNvSpPr txBox="1"/>
          <p:nvPr/>
        </p:nvSpPr>
        <p:spPr>
          <a:xfrm>
            <a:off x="5749290" y="1927274"/>
            <a:ext cx="3206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00CC"/>
                </a:solidFill>
              </a:rPr>
              <a:t>카카오 인증 상태 요청을 </a:t>
            </a:r>
            <a:r>
              <a:rPr lang="ko-KR" altLang="en-US" sz="1400" b="1">
                <a:solidFill>
                  <a:srgbClr val="0000CC"/>
                </a:solidFill>
              </a:rPr>
              <a:t>위한 </a:t>
            </a:r>
            <a:r>
              <a:rPr lang="en-US" altLang="ko-KR" sz="1400" b="1" dirty="0">
                <a:solidFill>
                  <a:srgbClr val="0000CC"/>
                </a:solidFill>
              </a:rPr>
              <a:t>URL</a:t>
            </a:r>
            <a:r>
              <a:rPr lang="ko-KR" altLang="en-US" sz="1400" b="1" dirty="0">
                <a:solidFill>
                  <a:srgbClr val="0000CC"/>
                </a:solidFill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25762143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9F70E2-7465-4355-B99D-C925D6D0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0" y="1450855"/>
            <a:ext cx="6035679" cy="46734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4842411" y="1008567"/>
            <a:ext cx="561875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카카오에 발급받은 키 검증 처리 후 사용자 검증 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20D60-FF38-4295-BC58-86CB63C171ED}"/>
              </a:ext>
            </a:extLst>
          </p:cNvPr>
          <p:cNvSpPr txBox="1"/>
          <p:nvPr/>
        </p:nvSpPr>
        <p:spPr>
          <a:xfrm>
            <a:off x="6440405" y="1621711"/>
            <a:ext cx="54510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00CC"/>
                </a:solidFill>
              </a:rPr>
              <a:t>카카오 </a:t>
            </a:r>
            <a:r>
              <a:rPr lang="en-US" altLang="ko-KR" sz="1400" b="1" dirty="0">
                <a:solidFill>
                  <a:srgbClr val="0000CC"/>
                </a:solidFill>
              </a:rPr>
              <a:t>REST API KEY</a:t>
            </a:r>
            <a:r>
              <a:rPr lang="ko-KR" altLang="en-US" sz="1400" b="1" dirty="0">
                <a:solidFill>
                  <a:srgbClr val="0000CC"/>
                </a:solidFill>
              </a:rPr>
              <a:t>를 시스템 환경 변수에서 읽어 온다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r>
              <a:rPr lang="ko-KR" altLang="en-US" sz="1400" b="1" dirty="0">
                <a:solidFill>
                  <a:srgbClr val="0000CC"/>
                </a:solidFill>
              </a:rPr>
              <a:t>접속자의 세션 정보를 갖고 온다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r>
              <a:rPr lang="en-US" altLang="ko-KR" sz="1400" b="1" dirty="0" err="1">
                <a:solidFill>
                  <a:srgbClr val="0000CC"/>
                </a:solidFill>
              </a:rPr>
              <a:t>Oauth</a:t>
            </a:r>
            <a:r>
              <a:rPr lang="en-US" altLang="ko-KR" sz="1400" b="1" dirty="0">
                <a:solidFill>
                  <a:srgbClr val="0000CC"/>
                </a:solidFill>
              </a:rPr>
              <a:t> </a:t>
            </a:r>
            <a:r>
              <a:rPr lang="ko-KR" altLang="en-US" sz="1400" b="1" dirty="0">
                <a:solidFill>
                  <a:srgbClr val="0000CC"/>
                </a:solidFill>
              </a:rPr>
              <a:t>연결을 유지하기 위한 세션 정보를 만든다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r>
              <a:rPr lang="ko-KR" altLang="en-US" sz="1400" b="1" dirty="0">
                <a:solidFill>
                  <a:srgbClr val="0000CC"/>
                </a:solidFill>
              </a:rPr>
              <a:t>카카오에 인증을 요청하면 응답할 서버 </a:t>
            </a:r>
            <a:r>
              <a:rPr lang="ko-KR" altLang="en-US" sz="1400" b="1" dirty="0" err="1">
                <a:solidFill>
                  <a:srgbClr val="0000CC"/>
                </a:solidFill>
              </a:rPr>
              <a:t>콜백</a:t>
            </a:r>
            <a:r>
              <a:rPr lang="ko-KR" altLang="en-US" sz="1400" b="1" dirty="0">
                <a:solidFill>
                  <a:srgbClr val="0000CC"/>
                </a:solidFill>
              </a:rPr>
              <a:t> 정보를 생성한다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r>
              <a:rPr lang="ko-KR" altLang="en-US" sz="1400" b="1" dirty="0">
                <a:solidFill>
                  <a:srgbClr val="0000CC"/>
                </a:solidFill>
              </a:rPr>
              <a:t>카카오에 인증 요청을 위한 추가 정보를 생성한다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r>
              <a:rPr lang="en-US" altLang="ko-KR" sz="1400" b="1" dirty="0">
                <a:solidFill>
                  <a:srgbClr val="0000CC"/>
                </a:solidFill>
              </a:rPr>
              <a:t>REST_KEY, </a:t>
            </a:r>
            <a:r>
              <a:rPr lang="en-US" altLang="ko-KR" sz="1400" b="1" dirty="0" err="1">
                <a:solidFill>
                  <a:srgbClr val="0000CC"/>
                </a:solidFill>
              </a:rPr>
              <a:t>CallBack</a:t>
            </a:r>
            <a:r>
              <a:rPr lang="en-US" altLang="ko-KR" sz="1400" b="1" dirty="0">
                <a:solidFill>
                  <a:srgbClr val="0000CC"/>
                </a:solidFill>
              </a:rPr>
              <a:t> URL, Code, Session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r>
              <a:rPr lang="ko-KR" altLang="en-US" sz="1400" b="1" dirty="0">
                <a:solidFill>
                  <a:srgbClr val="0000CC"/>
                </a:solidFill>
              </a:rPr>
              <a:t>카카오에 간편 인증 페이지를 요청한다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  <a:r>
              <a:rPr lang="ko-KR" altLang="en-US" sz="1400" b="1" dirty="0">
                <a:solidFill>
                  <a:srgbClr val="0000CC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230048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5BC20E0-71AF-4807-9739-4272E81F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1" y="3611463"/>
            <a:ext cx="8197122" cy="9239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FA4F4A-C0A5-49B3-86A6-EC7C4A1A7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1877163"/>
            <a:ext cx="6910447" cy="1015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C20D60-FF38-4295-BC58-86CB63C171ED}"/>
              </a:ext>
            </a:extLst>
          </p:cNvPr>
          <p:cNvSpPr txBox="1"/>
          <p:nvPr/>
        </p:nvSpPr>
        <p:spPr>
          <a:xfrm>
            <a:off x="369971" y="1320702"/>
            <a:ext cx="545104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00CC"/>
                </a:solidFill>
              </a:rPr>
              <a:t>접속자의 세션 정보를 갖고 온다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r>
              <a:rPr lang="en-US" altLang="ko-KR" sz="1400" b="1" dirty="0" err="1">
                <a:solidFill>
                  <a:srgbClr val="0000CC"/>
                </a:solidFill>
              </a:rPr>
              <a:t>Oauth</a:t>
            </a:r>
            <a:r>
              <a:rPr lang="en-US" altLang="ko-KR" sz="1400" b="1" dirty="0">
                <a:solidFill>
                  <a:srgbClr val="0000CC"/>
                </a:solidFill>
              </a:rPr>
              <a:t> </a:t>
            </a:r>
            <a:r>
              <a:rPr lang="ko-KR" altLang="en-US" sz="1400" b="1" dirty="0">
                <a:solidFill>
                  <a:srgbClr val="0000CC"/>
                </a:solidFill>
              </a:rPr>
              <a:t>연결을 유지하기 위한 세션 정보를 만든다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endParaRPr lang="en-US" altLang="ko-KR" sz="1400" b="1" dirty="0">
              <a:solidFill>
                <a:srgbClr val="0000CC"/>
              </a:solidFill>
            </a:endParaRPr>
          </a:p>
          <a:p>
            <a:r>
              <a:rPr lang="ko-KR" altLang="en-US" sz="1400" b="1" dirty="0">
                <a:solidFill>
                  <a:srgbClr val="0000CC"/>
                </a:solidFill>
              </a:rPr>
              <a:t>카카오에 인증을 요청하면 응답할 서버 </a:t>
            </a:r>
            <a:r>
              <a:rPr lang="ko-KR" altLang="en-US" sz="1400" b="1" dirty="0" err="1">
                <a:solidFill>
                  <a:srgbClr val="0000CC"/>
                </a:solidFill>
              </a:rPr>
              <a:t>콜백</a:t>
            </a:r>
            <a:r>
              <a:rPr lang="ko-KR" altLang="en-US" sz="1400" b="1" dirty="0">
                <a:solidFill>
                  <a:srgbClr val="0000CC"/>
                </a:solidFill>
              </a:rPr>
              <a:t> 정보를 생성한다</a:t>
            </a:r>
            <a:r>
              <a:rPr lang="en-US" altLang="ko-KR" sz="1400" b="1" dirty="0">
                <a:solidFill>
                  <a:srgbClr val="0000CC"/>
                </a:solidFill>
              </a:rPr>
              <a:t>.</a:t>
            </a:r>
          </a:p>
          <a:p>
            <a:endParaRPr lang="en-US" altLang="ko-KR" sz="14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70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6ADD38-715D-40B4-AA50-7FF655520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670724"/>
            <a:ext cx="7799612" cy="45061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382959" y="1275870"/>
            <a:ext cx="7628565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사용자가 카카오 인증 페이지에서 인증하만 서버로 결과를 돌려준다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285DA-0D28-4997-BAC5-DDB584BA78E8}"/>
              </a:ext>
            </a:extLst>
          </p:cNvPr>
          <p:cNvSpPr txBox="1"/>
          <p:nvPr/>
        </p:nvSpPr>
        <p:spPr>
          <a:xfrm>
            <a:off x="8028290" y="1909276"/>
            <a:ext cx="38631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카카오에서 </a:t>
            </a:r>
            <a:r>
              <a:rPr lang="en-US" altLang="ko-KR" sz="1400" b="1" dirty="0"/>
              <a:t>code, state, error </a:t>
            </a:r>
            <a:r>
              <a:rPr lang="ko-KR" altLang="en-US" sz="1400" b="1" dirty="0"/>
              <a:t>정보를 받아온다</a:t>
            </a:r>
            <a:r>
              <a:rPr lang="en-US" altLang="ko-KR" sz="1400" b="1" dirty="0"/>
              <a:t>.</a:t>
            </a:r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r>
              <a:rPr lang="ko-KR" altLang="en-US" sz="1400" b="1" dirty="0"/>
              <a:t>받은</a:t>
            </a:r>
          </a:p>
        </p:txBody>
      </p:sp>
    </p:spTree>
    <p:extLst>
      <p:ext uri="{BB962C8B-B14F-4D97-AF65-F5344CB8AC3E}">
        <p14:creationId xmlns:p14="http://schemas.microsoft.com/office/powerpoint/2010/main" val="14638531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com.ylove.web.AuthController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7283302" y="1275870"/>
            <a:ext cx="4608151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사용자가 카카오 인증 페이지에서 인증하만 서버로 결과를 돌려준다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5B67F6-144F-4AC1-BE64-3E30072C0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59" y="1460536"/>
            <a:ext cx="6751488" cy="484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645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/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</a:t>
            </a:r>
            <a:r>
              <a:rPr lang="en-US" dirty="0" err="1"/>
              <a:t>service</a:t>
            </a:r>
            <a:r>
              <a:rPr dirty="0" err="1"/>
              <a:t>.</a:t>
            </a:r>
            <a:r>
              <a:rPr lang="en-US" dirty="0" err="1"/>
              <a:t>UserService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51333C-BB92-405C-8D09-FD2EEC31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3" y="1387594"/>
            <a:ext cx="7451927" cy="15110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8176EB0-A0FE-47C8-99D9-9678C6E5DAC5}"/>
              </a:ext>
            </a:extLst>
          </p:cNvPr>
          <p:cNvSpPr/>
          <p:nvPr/>
        </p:nvSpPr>
        <p:spPr>
          <a:xfrm>
            <a:off x="720090" y="1945382"/>
            <a:ext cx="4309110" cy="3086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EE0FA4-2A25-49F8-90F4-8C28EFF3667C}"/>
              </a:ext>
            </a:extLst>
          </p:cNvPr>
          <p:cNvSpPr txBox="1">
            <a:spLocks/>
          </p:cNvSpPr>
          <p:nvPr/>
        </p:nvSpPr>
        <p:spPr>
          <a:xfrm>
            <a:off x="327433" y="3116490"/>
            <a:ext cx="4880178" cy="4886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ko-KR" altLang="en-US" dirty="0"/>
              <a:t>패키지</a:t>
            </a:r>
            <a:r>
              <a:rPr lang="en-US" altLang="ko-KR" dirty="0"/>
              <a:t>: </a:t>
            </a:r>
            <a:r>
              <a:rPr lang="en-US" dirty="0" err="1"/>
              <a:t>com.ylove.serviceImpl.UserServiceimpl</a:t>
            </a:r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290168-91E4-4C3F-826B-F8303511B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93" y="3577511"/>
            <a:ext cx="5388844" cy="11617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AEDAE6-0F9E-4694-B9D9-13EB5A773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4887971"/>
            <a:ext cx="4624267" cy="87274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A75C77-DA08-407A-B026-9041FFE54F85}"/>
              </a:ext>
            </a:extLst>
          </p:cNvPr>
          <p:cNvSpPr/>
          <p:nvPr/>
        </p:nvSpPr>
        <p:spPr>
          <a:xfrm>
            <a:off x="720090" y="4887970"/>
            <a:ext cx="4732020" cy="8727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74822BB-1E85-4B5D-9B1B-6638A433B5D5}"/>
              </a:ext>
            </a:extLst>
          </p:cNvPr>
          <p:cNvCxnSpPr>
            <a:stCxn id="7" idx="3"/>
            <a:endCxn id="23" idx="3"/>
          </p:cNvCxnSpPr>
          <p:nvPr/>
        </p:nvCxnSpPr>
        <p:spPr>
          <a:xfrm>
            <a:off x="5029200" y="2099687"/>
            <a:ext cx="422910" cy="3224658"/>
          </a:xfrm>
          <a:prstGeom prst="bentConnector3">
            <a:avLst>
              <a:gd name="adj1" fmla="val 15405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6048484" y="2193160"/>
            <a:ext cx="5575826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CC"/>
                </a:solidFill>
              </a:rPr>
              <a:t>서비스 인터페이스에 정의한 함수 처리</a:t>
            </a:r>
            <a:endParaRPr lang="en-US" altLang="ko-KR" b="1" dirty="0">
              <a:solidFill>
                <a:srgbClr val="0000CC"/>
              </a:solidFill>
            </a:endParaRPr>
          </a:p>
          <a:p>
            <a:endParaRPr lang="en-US" altLang="ko-KR" b="1" dirty="0">
              <a:solidFill>
                <a:srgbClr val="0000CC"/>
              </a:solidFill>
            </a:endParaRPr>
          </a:p>
          <a:p>
            <a:r>
              <a:rPr lang="en-US" altLang="ko-KR" b="1" dirty="0">
                <a:solidFill>
                  <a:srgbClr val="0000CC"/>
                </a:solidFill>
              </a:rPr>
              <a:t>(</a:t>
            </a:r>
            <a:r>
              <a:rPr lang="ko-KR" altLang="en-US" b="1" dirty="0">
                <a:solidFill>
                  <a:srgbClr val="0000CC"/>
                </a:solidFill>
              </a:rPr>
              <a:t>헤더</a:t>
            </a:r>
            <a:r>
              <a:rPr lang="en-US" altLang="ko-KR" b="1" dirty="0">
                <a:solidFill>
                  <a:srgbClr val="0000CC"/>
                </a:solidFill>
              </a:rPr>
              <a:t>)</a:t>
            </a:r>
            <a:r>
              <a:rPr lang="ko-KR" altLang="en-US" b="1" dirty="0">
                <a:solidFill>
                  <a:srgbClr val="0000CC"/>
                </a:solidFill>
              </a:rPr>
              <a:t> 함수의 형식에 맞게 서비스 구현체에서 구현한다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  <a:p>
            <a:r>
              <a:rPr lang="ko-KR" altLang="en-US" b="1" dirty="0">
                <a:solidFill>
                  <a:srgbClr val="0000CC"/>
                </a:solidFill>
              </a:rPr>
              <a:t>서비스 구현체에서는 </a:t>
            </a:r>
            <a:r>
              <a:rPr lang="ko-KR" altLang="en-US" b="1" dirty="0" err="1">
                <a:solidFill>
                  <a:srgbClr val="0000CC"/>
                </a:solidFill>
              </a:rPr>
              <a:t>매퍼</a:t>
            </a:r>
            <a:r>
              <a:rPr lang="ko-KR" altLang="en-US" b="1" dirty="0">
                <a:solidFill>
                  <a:srgbClr val="0000CC"/>
                </a:solidFill>
              </a:rPr>
              <a:t> 인터페이스에 정의한 함수를 호출한다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  <a:p>
            <a:endParaRPr lang="ko-KR" altLang="en-US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2560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EA9BCA0-F117-489F-9E9A-935AC1AE3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5389676"/>
            <a:ext cx="6643765" cy="6754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5DBF93-2BBC-43E7-AA70-6FEFFB0F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91" y="3536826"/>
            <a:ext cx="5476989" cy="18141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4C4450-EDE6-42E0-8341-D3AAC0EFC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92" y="1427941"/>
            <a:ext cx="4758635" cy="16885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컨트롤러 · AuthController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6193" y="919798"/>
            <a:ext cx="4032314" cy="35607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com.ylove.</a:t>
            </a:r>
            <a:r>
              <a:rPr lang="en-US" dirty="0" err="1"/>
              <a:t>mapper</a:t>
            </a:r>
            <a:r>
              <a:rPr dirty="0" err="1"/>
              <a:t>.</a:t>
            </a:r>
            <a:r>
              <a:rPr lang="en-US" dirty="0" err="1"/>
              <a:t>UserMapper</a:t>
            </a:r>
            <a:endParaRPr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176EB0-A0FE-47C8-99D9-9678C6E5DAC5}"/>
              </a:ext>
            </a:extLst>
          </p:cNvPr>
          <p:cNvSpPr/>
          <p:nvPr/>
        </p:nvSpPr>
        <p:spPr>
          <a:xfrm>
            <a:off x="720090" y="1982362"/>
            <a:ext cx="4309110" cy="271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EE0FA4-2A25-49F8-90F4-8C28EFF3667C}"/>
              </a:ext>
            </a:extLst>
          </p:cNvPr>
          <p:cNvSpPr txBox="1">
            <a:spLocks/>
          </p:cNvSpPr>
          <p:nvPr/>
        </p:nvSpPr>
        <p:spPr>
          <a:xfrm>
            <a:off x="327433" y="3116490"/>
            <a:ext cx="4880178" cy="4886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altLang="ko-KR" dirty="0"/>
              <a:t>XML: </a:t>
            </a:r>
            <a:r>
              <a:rPr lang="en-US" altLang="ko-KR" dirty="0" err="1"/>
              <a:t>egovframework</a:t>
            </a:r>
            <a:r>
              <a:rPr lang="en-US" altLang="ko-KR" dirty="0"/>
              <a:t>/</a:t>
            </a:r>
            <a:r>
              <a:rPr lang="en-US" altLang="ko-KR" dirty="0" err="1"/>
              <a:t>sqlmap</a:t>
            </a:r>
            <a:r>
              <a:rPr lang="en-US" altLang="ko-KR" dirty="0"/>
              <a:t>/mappers</a:t>
            </a:r>
            <a:endParaRPr 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A75C77-DA08-407A-B026-9041FFE54F85}"/>
              </a:ext>
            </a:extLst>
          </p:cNvPr>
          <p:cNvSpPr/>
          <p:nvPr/>
        </p:nvSpPr>
        <p:spPr>
          <a:xfrm>
            <a:off x="720090" y="5373794"/>
            <a:ext cx="6643764" cy="691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74822BB-1E85-4B5D-9B1B-6638A433B5D5}"/>
              </a:ext>
            </a:extLst>
          </p:cNvPr>
          <p:cNvCxnSpPr>
            <a:cxnSpLocks/>
            <a:stCxn id="7" idx="3"/>
            <a:endCxn id="23" idx="3"/>
          </p:cNvCxnSpPr>
          <p:nvPr/>
        </p:nvCxnSpPr>
        <p:spPr>
          <a:xfrm>
            <a:off x="5029200" y="2118177"/>
            <a:ext cx="2334654" cy="3601273"/>
          </a:xfrm>
          <a:prstGeom prst="bentConnector3">
            <a:avLst>
              <a:gd name="adj1" fmla="val 10979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E293B9-A0C1-4A4F-B3F1-2628B8157CFE}"/>
              </a:ext>
            </a:extLst>
          </p:cNvPr>
          <p:cNvSpPr txBox="1"/>
          <p:nvPr/>
        </p:nvSpPr>
        <p:spPr>
          <a:xfrm>
            <a:off x="5522704" y="2726143"/>
            <a:ext cx="557582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0000CC"/>
                </a:solidFill>
              </a:rPr>
              <a:t>매퍼</a:t>
            </a:r>
            <a:r>
              <a:rPr lang="ko-KR" altLang="en-US" b="1" dirty="0">
                <a:solidFill>
                  <a:srgbClr val="0000CC"/>
                </a:solidFill>
              </a:rPr>
              <a:t> 인터페이스에 정의한 함수 처리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>
                <a:solidFill>
                  <a:srgbClr val="0000CC"/>
                </a:solidFill>
              </a:rPr>
              <a:t>함수명을 기반으로 </a:t>
            </a:r>
            <a:r>
              <a:rPr lang="en-US" altLang="ko-KR" b="1" dirty="0">
                <a:solidFill>
                  <a:srgbClr val="0000CC"/>
                </a:solidFill>
              </a:rPr>
              <a:t>XML</a:t>
            </a:r>
            <a:r>
              <a:rPr lang="ko-KR" altLang="en-US" b="1" dirty="0">
                <a:solidFill>
                  <a:srgbClr val="0000CC"/>
                </a:solidFill>
              </a:rPr>
              <a:t>에서 </a:t>
            </a:r>
            <a:r>
              <a:rPr lang="en-US" altLang="ko-KR" b="1" dirty="0">
                <a:solidFill>
                  <a:srgbClr val="0000CC"/>
                </a:solidFill>
              </a:rPr>
              <a:t>Query</a:t>
            </a:r>
            <a:r>
              <a:rPr lang="ko-KR" altLang="en-US" b="1" dirty="0">
                <a:solidFill>
                  <a:srgbClr val="0000CC"/>
                </a:solidFill>
              </a:rPr>
              <a:t>문을 수행하여 결과를 함수 형식으로 전달 받는다</a:t>
            </a:r>
            <a:r>
              <a:rPr lang="en-US" altLang="ko-KR" b="1" dirty="0">
                <a:solidFill>
                  <a:srgbClr val="0000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63747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서비스 · 매퍼 · XML · 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UserService / UserServiceImpl: registerUser, registerKakaoUser, getUserByEmail</a:t>
            </a:r>
          </a:p>
          <a:p>
            <a:pPr>
              <a:defRPr sz="1800"/>
            </a:pPr>
            <a:r>
              <a:t>UserMapper.java + UserMapper.xml: blog_user CRUD·조회</a:t>
            </a:r>
          </a:p>
          <a:p>
            <a:pPr>
              <a:defRPr sz="1800"/>
            </a:pPr>
            <a:r>
              <a:t>registerKakaoUser: kakao_id 중복 시 기존 사용자 반환</a:t>
            </a:r>
          </a:p>
          <a:p>
            <a:pPr>
              <a:defRPr sz="1800"/>
            </a:pPr>
            <a:r>
              <a:t>JSP: WEB-INF/jsp/auth/login.jsp, register.jsp</a:t>
            </a:r>
          </a:p>
          <a:p>
            <a:pPr>
              <a:defRPr sz="1800"/>
            </a:pPr>
            <a:r>
              <a:t>menu.jsp: sessionScope.loginUser 유무로 로그인/로그아웃 표시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2주차 · 서비스 · 매퍼 · XML · JSP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8B09CA-B67D-42BC-83A0-3346E3BD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2820352"/>
            <a:ext cx="7427886" cy="30089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1F63B2-9DAA-42A1-AC1B-989E8FD62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1028700"/>
            <a:ext cx="5751576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132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5B99A-6B6B-4321-8EF2-25273AA5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카카오 인증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3854DB-D8E8-46EA-9A5C-97220B49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69" y="1021363"/>
            <a:ext cx="3685097" cy="27398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E737E7-31BF-4A3E-B9A7-4CABF5466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7" y="1021363"/>
            <a:ext cx="3110124" cy="16899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45E6A6-5DF8-48AD-BD29-9D2AA1B2B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521" y="1021363"/>
            <a:ext cx="3255976" cy="35187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0E6421-07C7-4DB8-B3C0-1B6B18D35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14" y="3623214"/>
            <a:ext cx="3255976" cy="20773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E6DE3951-06D2-44F1-82FD-44DF263D3C6E}"/>
              </a:ext>
            </a:extLst>
          </p:cNvPr>
          <p:cNvSpPr/>
          <p:nvPr/>
        </p:nvSpPr>
        <p:spPr>
          <a:xfrm>
            <a:off x="3615070" y="1711842"/>
            <a:ext cx="211840" cy="60605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FDA1030-11E5-475A-A80D-9913AE8426C4}"/>
              </a:ext>
            </a:extLst>
          </p:cNvPr>
          <p:cNvSpPr/>
          <p:nvPr/>
        </p:nvSpPr>
        <p:spPr>
          <a:xfrm>
            <a:off x="7811525" y="1711842"/>
            <a:ext cx="211840" cy="60605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88DCD48-4ABD-48AB-B1DF-3B1D59C9A24F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6614766" y="1447127"/>
            <a:ext cx="121769" cy="630771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5523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14673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블로그·멤</a:t>
            </a:r>
            <a:r>
              <a:rPr lang="ko-KR" altLang="en-US" dirty="0" err="1"/>
              <a:t>버</a:t>
            </a:r>
            <a:r>
              <a:rPr dirty="0"/>
              <a:t>·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BlogService와</a:t>
            </a:r>
            <a:r>
              <a:rPr dirty="0"/>
              <a:t> </a:t>
            </a:r>
            <a:r>
              <a:rPr dirty="0" err="1"/>
              <a:t>BlogMapper</a:t>
            </a:r>
            <a:r>
              <a:rPr dirty="0"/>
              <a:t>, </a:t>
            </a:r>
            <a:r>
              <a:rPr dirty="0" err="1"/>
              <a:t>관련</a:t>
            </a:r>
            <a:r>
              <a:rPr dirty="0"/>
              <a:t> JSP </a:t>
            </a:r>
            <a:r>
              <a:rPr dirty="0" err="1"/>
              <a:t>연결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영역과</a:t>
            </a:r>
            <a:r>
              <a:rPr dirty="0"/>
              <a:t>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블로그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구분</a:t>
            </a: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3주차 · 블로그 생성 및 관리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22329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시 </a:t>
            </a:r>
            <a:r>
              <a:rPr dirty="0" err="1"/>
              <a:t>UserServiceImpl.registerUser</a:t>
            </a:r>
            <a:r>
              <a:rPr dirty="0"/>
              <a:t> → </a:t>
            </a:r>
            <a:r>
              <a:rPr dirty="0" err="1"/>
              <a:t>createDefaultBlog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blog </a:t>
            </a:r>
            <a:r>
              <a:rPr dirty="0" err="1"/>
              <a:t>테이블</a:t>
            </a:r>
            <a:r>
              <a:rPr dirty="0"/>
              <a:t> insert +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한도</a:t>
            </a:r>
            <a:r>
              <a:rPr dirty="0"/>
              <a:t>(</a:t>
            </a:r>
            <a:r>
              <a:rPr dirty="0" err="1"/>
              <a:t>게시판</a:t>
            </a:r>
            <a:r>
              <a:rPr dirty="0"/>
              <a:t> 수,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용량</a:t>
            </a:r>
            <a:r>
              <a:rPr dirty="0"/>
              <a:t> 등)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BlogController</a:t>
            </a:r>
            <a:r>
              <a:rPr dirty="0"/>
              <a:t>: /blog/{</a:t>
            </a:r>
            <a:r>
              <a:rPr dirty="0" err="1"/>
              <a:t>blogId</a:t>
            </a:r>
            <a:r>
              <a:rPr dirty="0"/>
              <a:t>}/view.do, members.do, member/status.do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AdminController</a:t>
            </a:r>
            <a:r>
              <a:rPr dirty="0"/>
              <a:t>: /admin/dashboard.do, blogs.do, blog/update.do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AdminAuthInterceptor</a:t>
            </a:r>
            <a:r>
              <a:rPr dirty="0"/>
              <a:t>: </a:t>
            </a:r>
            <a:r>
              <a:rPr dirty="0" err="1"/>
              <a:t>세션</a:t>
            </a:r>
            <a:r>
              <a:rPr dirty="0"/>
              <a:t> + role==ADMIN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3주차 · 계층별 파일 (블로그·관리자)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28602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Controller: BlogController.java, AdminController.java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Service: </a:t>
            </a:r>
            <a:r>
              <a:rPr dirty="0" err="1"/>
              <a:t>BlogService</a:t>
            </a:r>
            <a:r>
              <a:rPr dirty="0"/>
              <a:t>, </a:t>
            </a:r>
            <a:r>
              <a:rPr dirty="0" err="1"/>
              <a:t>BlogServiceImpl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Mapper: BlogMapper.java + BlogMapper.xml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JSP: blog/</a:t>
            </a:r>
            <a:r>
              <a:rPr dirty="0" err="1"/>
              <a:t>blogView.jsp</a:t>
            </a:r>
            <a:r>
              <a:rPr dirty="0"/>
              <a:t>, blog/</a:t>
            </a:r>
            <a:r>
              <a:rPr dirty="0" err="1"/>
              <a:t>memberList.jsp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JSP: admin/</a:t>
            </a:r>
            <a:r>
              <a:rPr dirty="0" err="1"/>
              <a:t>dashboard.jsp</a:t>
            </a:r>
            <a:r>
              <a:rPr dirty="0"/>
              <a:t>, admin/</a:t>
            </a:r>
            <a:r>
              <a:rPr dirty="0" err="1"/>
              <a:t>blogList.jsp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게시글</a:t>
            </a:r>
            <a:r>
              <a:rPr dirty="0"/>
              <a:t>: </a:t>
            </a:r>
            <a:r>
              <a:rPr dirty="0" err="1"/>
              <a:t>PostController</a:t>
            </a:r>
            <a:r>
              <a:rPr dirty="0"/>
              <a:t>, </a:t>
            </a:r>
            <a:r>
              <a:rPr dirty="0" err="1"/>
              <a:t>PostService</a:t>
            </a:r>
            <a:r>
              <a:rPr dirty="0"/>
              <a:t>, </a:t>
            </a:r>
            <a:r>
              <a:rPr dirty="0" err="1"/>
              <a:t>PostMapper</a:t>
            </a:r>
            <a:r>
              <a:rPr dirty="0"/>
              <a:t>, post/*.</a:t>
            </a:r>
            <a:r>
              <a:rPr dirty="0" err="1"/>
              <a:t>jsp</a:t>
            </a:r>
            <a:r>
              <a:rPr dirty="0"/>
              <a:t> (</a:t>
            </a:r>
            <a:r>
              <a:rPr dirty="0" err="1"/>
              <a:t>연계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4주차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15205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JUnit 5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단위·통합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개념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Spring </a:t>
            </a:r>
            <a:r>
              <a:rPr dirty="0" err="1"/>
              <a:t>TestContext로</a:t>
            </a:r>
            <a:r>
              <a:rPr dirty="0"/>
              <a:t> </a:t>
            </a:r>
            <a:r>
              <a:rPr dirty="0" err="1"/>
              <a:t>서비스·매퍼</a:t>
            </a:r>
            <a:r>
              <a:rPr dirty="0"/>
              <a:t> </a:t>
            </a:r>
            <a:r>
              <a:rPr dirty="0" err="1"/>
              <a:t>테스트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인증·권한·예외</a:t>
            </a:r>
            <a:r>
              <a:rPr dirty="0"/>
              <a:t> </a:t>
            </a:r>
            <a:r>
              <a:rPr dirty="0" err="1"/>
              <a:t>시나리오를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케이스로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4주차 · 테스트 케이스 구현 (권장 범위)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28495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도구</a:t>
            </a:r>
            <a:r>
              <a:rPr dirty="0"/>
              <a:t>: JUnit Jupiter, spring-test (</a:t>
            </a:r>
            <a:r>
              <a:rPr dirty="0" err="1"/>
              <a:t>pom.xml에</a:t>
            </a:r>
            <a:r>
              <a:rPr dirty="0"/>
              <a:t> test scope)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UserServiceImpl</a:t>
            </a:r>
            <a:r>
              <a:rPr dirty="0"/>
              <a:t>: </a:t>
            </a:r>
            <a:r>
              <a:rPr dirty="0" err="1"/>
              <a:t>이메일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, </a:t>
            </a:r>
            <a:r>
              <a:rPr dirty="0" err="1"/>
              <a:t>카카오</a:t>
            </a:r>
            <a:r>
              <a:rPr dirty="0"/>
              <a:t> id </a:t>
            </a:r>
            <a:r>
              <a:rPr dirty="0" err="1"/>
              <a:t>중복</a:t>
            </a:r>
            <a:r>
              <a:rPr dirty="0"/>
              <a:t> 시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사용자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PostServiceImpl</a:t>
            </a:r>
            <a:r>
              <a:rPr dirty="0"/>
              <a:t>: </a:t>
            </a:r>
            <a:r>
              <a:rPr dirty="0" err="1"/>
              <a:t>금지어·개인정보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시 </a:t>
            </a:r>
            <a:r>
              <a:rPr dirty="0" err="1"/>
              <a:t>예외</a:t>
            </a:r>
            <a:r>
              <a:rPr dirty="0"/>
              <a:t>(</a:t>
            </a:r>
            <a:r>
              <a:rPr dirty="0" err="1"/>
              <a:t>ModerationService</a:t>
            </a:r>
            <a:r>
              <a:rPr dirty="0"/>
              <a:t> mock)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Mapper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: @SpringJUnitConfig +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DB(H2·Testcontainers </a:t>
            </a:r>
            <a:r>
              <a:rPr dirty="0" err="1"/>
              <a:t>선택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실행</a:t>
            </a:r>
            <a:r>
              <a:rPr dirty="0"/>
              <a:t>: </a:t>
            </a:r>
            <a:r>
              <a:rPr dirty="0" err="1"/>
              <a:t>mvn</a:t>
            </a:r>
            <a:r>
              <a:rPr dirty="0"/>
              <a:t> test (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IDE에서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인터셉터</a:t>
            </a:r>
            <a:r>
              <a:rPr dirty="0"/>
              <a:t> </a:t>
            </a:r>
            <a:r>
              <a:rPr dirty="0" err="1"/>
              <a:t>경로에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MockMvc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(</a:t>
            </a:r>
            <a:r>
              <a:rPr dirty="0" err="1"/>
              <a:t>심화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4주차 · 실습 과제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19777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Given-When-Then </a:t>
            </a:r>
            <a:r>
              <a:rPr dirty="0" err="1"/>
              <a:t>형식으로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3개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작성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회원가입</a:t>
            </a:r>
            <a:r>
              <a:rPr dirty="0"/>
              <a:t> 후 </a:t>
            </a:r>
            <a:r>
              <a:rPr dirty="0" err="1"/>
              <a:t>블로그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JSON </a:t>
            </a:r>
            <a:r>
              <a:rPr dirty="0" err="1"/>
              <a:t>파싱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(</a:t>
            </a:r>
            <a:r>
              <a:rPr dirty="0" err="1"/>
              <a:t>순수</a:t>
            </a:r>
            <a:r>
              <a:rPr dirty="0"/>
              <a:t> Java)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테스트</a:t>
            </a:r>
            <a:r>
              <a:rPr dirty="0"/>
              <a:t> DB </a:t>
            </a:r>
            <a:r>
              <a:rPr dirty="0" err="1"/>
              <a:t>분리</a:t>
            </a:r>
            <a:r>
              <a:rPr dirty="0"/>
              <a:t>: application-</a:t>
            </a:r>
            <a:r>
              <a:rPr dirty="0" err="1"/>
              <a:t>test.properties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스키마</a:t>
            </a: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5주차 ·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18607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2-tier: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(WAS)와 DB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분리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: </a:t>
            </a:r>
            <a:r>
              <a:rPr dirty="0" err="1"/>
              <a:t>패키징</a:t>
            </a:r>
            <a:r>
              <a:rPr dirty="0"/>
              <a:t>, </a:t>
            </a:r>
            <a:r>
              <a:rPr dirty="0" err="1"/>
              <a:t>전송</a:t>
            </a:r>
            <a:r>
              <a:rPr dirty="0"/>
              <a:t>, </a:t>
            </a:r>
            <a:r>
              <a:rPr dirty="0" err="1"/>
              <a:t>설정</a:t>
            </a:r>
            <a:r>
              <a:rPr dirty="0"/>
              <a:t>, </a:t>
            </a:r>
            <a:r>
              <a:rPr dirty="0" err="1"/>
              <a:t>보안</a:t>
            </a:r>
            <a:r>
              <a:rPr dirty="0"/>
              <a:t>(</a:t>
            </a:r>
            <a:r>
              <a:rPr dirty="0" err="1"/>
              <a:t>방화벽·계정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eGovFrame</a:t>
            </a:r>
            <a:r>
              <a:rPr dirty="0"/>
              <a:t> WAR </a:t>
            </a:r>
            <a:r>
              <a:rPr dirty="0" err="1"/>
              <a:t>배포</a:t>
            </a:r>
            <a:r>
              <a:rPr dirty="0"/>
              <a:t> 및 </a:t>
            </a:r>
            <a:r>
              <a:rPr dirty="0" err="1"/>
              <a:t>장애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포인트</a:t>
            </a:r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5주차 · 2-tier 구현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27964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Tier 1: Tomcat 등 WAS — </a:t>
            </a:r>
            <a:r>
              <a:rPr dirty="0" err="1"/>
              <a:t>webblog</a:t>
            </a:r>
            <a:r>
              <a:rPr dirty="0"/>
              <a:t>-*.war </a:t>
            </a:r>
            <a:r>
              <a:rPr dirty="0" err="1"/>
              <a:t>배포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Tier 2: MariaDB —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호스트</a:t>
            </a:r>
            <a:r>
              <a:rPr dirty="0"/>
              <a:t>, </a:t>
            </a:r>
            <a:r>
              <a:rPr dirty="0" err="1"/>
              <a:t>포트</a:t>
            </a:r>
            <a:r>
              <a:rPr dirty="0"/>
              <a:t> 3306(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앱은</a:t>
            </a:r>
            <a:r>
              <a:rPr dirty="0"/>
              <a:t> </a:t>
            </a:r>
            <a:r>
              <a:rPr dirty="0" err="1"/>
              <a:t>jdbc:mariadb</a:t>
            </a:r>
            <a:r>
              <a:rPr dirty="0"/>
              <a:t>://DB서버IP:3306/</a:t>
            </a:r>
            <a:r>
              <a:rPr dirty="0" err="1"/>
              <a:t>pub_blog</a:t>
            </a:r>
            <a:r>
              <a:rPr dirty="0"/>
              <a:t> 로 </a:t>
            </a:r>
            <a:r>
              <a:rPr dirty="0" err="1"/>
              <a:t>접속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database.properties를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환경에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배치</a:t>
            </a:r>
            <a:r>
              <a:rPr dirty="0"/>
              <a:t>(~/.</a:t>
            </a:r>
            <a:r>
              <a:rPr dirty="0" err="1"/>
              <a:t>webblog</a:t>
            </a:r>
            <a:r>
              <a:rPr dirty="0"/>
              <a:t>/ 등)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카카오</a:t>
            </a:r>
            <a:r>
              <a:rPr dirty="0"/>
              <a:t> Redirect </a:t>
            </a:r>
            <a:r>
              <a:rPr dirty="0" err="1"/>
              <a:t>URI를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도메인으로</a:t>
            </a:r>
            <a:r>
              <a:rPr dirty="0"/>
              <a:t> </a:t>
            </a:r>
            <a:r>
              <a:rPr dirty="0" err="1"/>
              <a:t>변경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방화벽</a:t>
            </a:r>
            <a:r>
              <a:rPr dirty="0"/>
              <a:t>: WAS → DB </a:t>
            </a:r>
            <a:r>
              <a:rPr dirty="0" err="1"/>
              <a:t>포트만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, </a:t>
            </a:r>
            <a:r>
              <a:rPr dirty="0" err="1"/>
              <a:t>DB는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노출</a:t>
            </a:r>
            <a:r>
              <a:rPr dirty="0"/>
              <a:t> </a:t>
            </a:r>
            <a:r>
              <a:rPr dirty="0" err="1"/>
              <a:t>최소화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5주차 · 서버(WAS)에 설치·설정할 항목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25359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JRE/JDK 8 </a:t>
            </a:r>
            <a:r>
              <a:rPr dirty="0" err="1"/>
              <a:t>이상</a:t>
            </a:r>
            <a:r>
              <a:rPr dirty="0"/>
              <a:t> (Tomcat </a:t>
            </a:r>
            <a:r>
              <a:rPr dirty="0" err="1"/>
              <a:t>실행용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Apache Tomcat: </a:t>
            </a:r>
            <a:r>
              <a:rPr dirty="0" err="1"/>
              <a:t>webapps에</a:t>
            </a:r>
            <a:r>
              <a:rPr dirty="0"/>
              <a:t> WAR </a:t>
            </a:r>
            <a:r>
              <a:rPr dirty="0" err="1"/>
              <a:t>배포</a:t>
            </a:r>
            <a:r>
              <a:rPr dirty="0"/>
              <a:t>, context path </a:t>
            </a:r>
            <a:r>
              <a:rPr dirty="0" err="1"/>
              <a:t>확인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환경변수</a:t>
            </a:r>
            <a:r>
              <a:rPr dirty="0"/>
              <a:t>: KAKAO_REST_API_KEY 등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로그</a:t>
            </a:r>
            <a:r>
              <a:rPr dirty="0"/>
              <a:t>: logs/</a:t>
            </a:r>
            <a:r>
              <a:rPr dirty="0" err="1"/>
              <a:t>catalina.out</a:t>
            </a:r>
            <a:r>
              <a:rPr dirty="0"/>
              <a:t> </a:t>
            </a:r>
            <a:r>
              <a:rPr dirty="0" err="1"/>
              <a:t>등으로</a:t>
            </a:r>
            <a:r>
              <a:rPr dirty="0"/>
              <a:t> </a:t>
            </a:r>
            <a:r>
              <a:rPr dirty="0" err="1"/>
              <a:t>기동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타임존·UTF-8,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(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 시) </a:t>
            </a:r>
            <a:r>
              <a:rPr dirty="0" err="1"/>
              <a:t>검토</a:t>
            </a:r>
            <a:endParaRPr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5주차 · DB 서버 설치·설정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1988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MariaDB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패키지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및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기동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00·01 </a:t>
            </a:r>
            <a:r>
              <a:rPr dirty="0" err="1"/>
              <a:t>SQL로</a:t>
            </a:r>
            <a:r>
              <a:rPr dirty="0"/>
              <a:t> </a:t>
            </a:r>
            <a:r>
              <a:rPr dirty="0" err="1"/>
              <a:t>DB·계정·테이블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bind-address, </a:t>
            </a:r>
            <a:r>
              <a:rPr dirty="0" err="1"/>
              <a:t>방화벽</a:t>
            </a:r>
            <a:r>
              <a:rPr dirty="0"/>
              <a:t>,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권한</a:t>
            </a:r>
            <a:r>
              <a:rPr dirty="0"/>
              <a:t> </a:t>
            </a:r>
            <a:r>
              <a:rPr dirty="0" err="1"/>
              <a:t>계정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문자셋</a:t>
            </a:r>
            <a:r>
              <a:rPr dirty="0"/>
              <a:t> utf8mb4, </a:t>
            </a:r>
            <a:r>
              <a:rPr dirty="0" err="1"/>
              <a:t>백업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(</a:t>
            </a:r>
            <a:r>
              <a:rPr dirty="0" err="1"/>
              <a:t>선택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5주차 · 컴파일 · 전달 · 실행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4"/>
            <a:ext cx="11529946" cy="29027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개발</a:t>
            </a:r>
            <a:r>
              <a:rPr dirty="0"/>
              <a:t> PC: </a:t>
            </a:r>
            <a:r>
              <a:rPr dirty="0" err="1"/>
              <a:t>mvn</a:t>
            </a:r>
            <a:r>
              <a:rPr dirty="0"/>
              <a:t> clean package -</a:t>
            </a:r>
            <a:r>
              <a:rPr dirty="0" err="1"/>
              <a:t>DskipTests</a:t>
            </a:r>
            <a:r>
              <a:rPr dirty="0"/>
              <a:t> (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포함</a:t>
            </a:r>
            <a:r>
              <a:rPr dirty="0"/>
              <a:t>)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산출물</a:t>
            </a:r>
            <a:r>
              <a:rPr dirty="0"/>
              <a:t>: target/webblog-1.0.0.war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전달</a:t>
            </a:r>
            <a:r>
              <a:rPr dirty="0"/>
              <a:t>: SCP, SFTP, CI </a:t>
            </a:r>
            <a:r>
              <a:rPr dirty="0" err="1"/>
              <a:t>파이프라인</a:t>
            </a:r>
            <a:r>
              <a:rPr dirty="0"/>
              <a:t>, </a:t>
            </a:r>
            <a:r>
              <a:rPr dirty="0" err="1"/>
              <a:t>사내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 등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서버</a:t>
            </a:r>
            <a:r>
              <a:rPr dirty="0"/>
              <a:t>: $CATALINA_HOME/webapps/ 에 </a:t>
            </a:r>
            <a:r>
              <a:rPr dirty="0" err="1"/>
              <a:t>복사</a:t>
            </a:r>
            <a:r>
              <a:rPr dirty="0"/>
              <a:t> 후 </a:t>
            </a:r>
            <a:r>
              <a:rPr dirty="0" err="1"/>
              <a:t>기동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manager </a:t>
            </a:r>
            <a:r>
              <a:rPr dirty="0" err="1"/>
              <a:t>배포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기동</a:t>
            </a:r>
            <a:r>
              <a:rPr dirty="0"/>
              <a:t> 후 http://서버:8080/컨텍스트/ </a:t>
            </a:r>
            <a:r>
              <a:rPr dirty="0" err="1"/>
              <a:t>접속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장애</a:t>
            </a:r>
            <a:r>
              <a:rPr dirty="0"/>
              <a:t> 시: </a:t>
            </a:r>
            <a:r>
              <a:rPr dirty="0" err="1"/>
              <a:t>ClassNotFoundException</a:t>
            </a:r>
            <a:r>
              <a:rPr dirty="0"/>
              <a:t> → </a:t>
            </a:r>
            <a:r>
              <a:rPr dirty="0" err="1"/>
              <a:t>의존성</a:t>
            </a:r>
            <a:r>
              <a:rPr dirty="0"/>
              <a:t> </a:t>
            </a:r>
            <a:r>
              <a:rPr dirty="0" err="1"/>
              <a:t>누락</a:t>
            </a:r>
            <a:r>
              <a:rPr dirty="0"/>
              <a:t>, DB </a:t>
            </a:r>
            <a:r>
              <a:rPr dirty="0" err="1"/>
              <a:t>연결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→ </a:t>
            </a:r>
            <a:r>
              <a:rPr dirty="0" err="1"/>
              <a:t>방화벽·계정·URL</a:t>
            </a: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마무리 · 참고 자료 (프로젝트 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07" y="893063"/>
            <a:ext cx="11529946" cy="20415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README.md: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, URL, </a:t>
            </a:r>
            <a:r>
              <a:rPr dirty="0" err="1"/>
              <a:t>DB·카카오</a:t>
            </a:r>
            <a:r>
              <a:rPr dirty="0"/>
              <a:t> </a:t>
            </a:r>
            <a:r>
              <a:rPr dirty="0" err="1"/>
              <a:t>설정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/>
              <a:t>docs/webblog-5week-practice.pptx: 본 </a:t>
            </a:r>
            <a:r>
              <a:rPr dirty="0" err="1"/>
              <a:t>교안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db</a:t>
            </a:r>
            <a:r>
              <a:rPr dirty="0"/>
              <a:t>/</a:t>
            </a:r>
            <a:r>
              <a:rPr dirty="0" err="1"/>
              <a:t>mariadb</a:t>
            </a:r>
            <a:r>
              <a:rPr dirty="0"/>
              <a:t>/*.</a:t>
            </a:r>
            <a:r>
              <a:rPr dirty="0" err="1"/>
              <a:t>sql</a:t>
            </a:r>
            <a:r>
              <a:rPr dirty="0"/>
              <a:t>: DB </a:t>
            </a:r>
            <a:r>
              <a:rPr dirty="0" err="1"/>
              <a:t>초기화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: </a:t>
            </a:r>
            <a:r>
              <a:rPr dirty="0" err="1"/>
              <a:t>eGovFrame</a:t>
            </a:r>
            <a:r>
              <a:rPr dirty="0"/>
              <a:t>, Spring MVC, </a:t>
            </a:r>
            <a:r>
              <a:rPr dirty="0" err="1"/>
              <a:t>MyBatis</a:t>
            </a:r>
            <a:r>
              <a:rPr dirty="0"/>
              <a:t>, </a:t>
            </a:r>
            <a:r>
              <a:rPr dirty="0" err="1"/>
              <a:t>Kakao</a:t>
            </a:r>
            <a:r>
              <a:rPr dirty="0"/>
              <a:t> Developers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1635</TotalTime>
  <Words>5259</Words>
  <Application>Microsoft Office PowerPoint</Application>
  <PresentationFormat>와이드스크린</PresentationFormat>
  <Paragraphs>574</Paragraphs>
  <Slides>85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3" baseType="lpstr">
      <vt:lpstr>Aptos</vt:lpstr>
      <vt:lpstr>Aptos Display</vt:lpstr>
      <vt:lpstr>맑은 고딕</vt:lpstr>
      <vt:lpstr>Calibri</vt:lpstr>
      <vt:lpstr>Calibri Light</vt:lpstr>
      <vt:lpstr>Consolas</vt:lpstr>
      <vt:lpstr>Wingdings</vt:lpstr>
      <vt:lpstr>추억</vt:lpstr>
      <vt:lpstr>webblog 실습 교안 (5주)</vt:lpstr>
      <vt:lpstr>1주차 · 학습 목표</vt:lpstr>
      <vt:lpstr>1주차 · 프로젝트 전체 흐름</vt:lpstr>
      <vt:lpstr>1주차 · 프로젝트 준비사항</vt:lpstr>
      <vt:lpstr>1주차 · eGovFrame Web Project 구성</vt:lpstr>
      <vt:lpstr>1주차 · 데이터베이스 및 테이블 구성</vt:lpstr>
      <vt:lpstr>1주차 · 데이터베이스 및 테이블 구성</vt:lpstr>
      <vt:lpstr>1주차 · 데이터베이스 및 테이블 구성</vt:lpstr>
      <vt:lpstr>1주차 · 데이터베이스 및 테이블 구성</vt:lpstr>
      <vt:lpstr>1주차 · 데이터베이스 및 테이블 구성</vt:lpstr>
      <vt:lpstr>1주차 · 데이터베이스 및 테이블 구성</vt:lpstr>
      <vt:lpstr>1주차 · 데이터베이스 및 테이블 구성</vt:lpstr>
      <vt:lpstr>1주차. 자바 구성 </vt:lpstr>
      <vt:lpstr>1주차. 자바 구성 </vt:lpstr>
      <vt:lpstr>1주차. 자바 구성 </vt:lpstr>
      <vt:lpstr>1주차. 자바 구성 </vt:lpstr>
      <vt:lpstr>1주차. 자바 구성 </vt:lpstr>
      <vt:lpstr>1주차. 이클립스에서 아파치 톰켓 서버 설정</vt:lpstr>
      <vt:lpstr>1주차. 이클립스에서 아파치 톰켓 서버 설정</vt:lpstr>
      <vt:lpstr>1주차. 이클립스에서 아파치 톰켓 서버 설정</vt:lpstr>
      <vt:lpstr>1주차 · 프로젝트 구성</vt:lpstr>
      <vt:lpstr>1주차 · 프로젝트 구성</vt:lpstr>
      <vt:lpstr>1주차 · pom.xml 기능</vt:lpstr>
      <vt:lpstr>1주차 · web.xml 기능</vt:lpstr>
      <vt:lpstr>1주차 · web.xml 기능</vt:lpstr>
      <vt:lpstr>1주차 · web.xml 기능</vt:lpstr>
      <vt:lpstr>1주차 · web.xml 기능</vt:lpstr>
      <vt:lpstr>1주차 · properties · Spring context · sql-mapper-config.xml</vt:lpstr>
      <vt:lpstr>1주차 · properties · Spring context · sql-mapper-config.xml</vt:lpstr>
      <vt:lpstr>1주차. 환경변수 설정-아파치 톰켓</vt:lpstr>
      <vt:lpstr>1주차. 환경변수 설정-윈도우 배치파일로 적용</vt:lpstr>
      <vt:lpstr>1주차. 환경변수 설정-우분투(리눅스) 쉘에 적용</vt:lpstr>
      <vt:lpstr>1주차 · properties · Spring context · sql-mapper-config.xml</vt:lpstr>
      <vt:lpstr>1주차 · properties · Spring context · sql-mapper-config.xml</vt:lpstr>
      <vt:lpstr>1주차 · dispatcher-servlet.xml · tiles.xml</vt:lpstr>
      <vt:lpstr>1주차 · dispatcher-servlet.xml · tiles.xml</vt:lpstr>
      <vt:lpstr>1주차 · dispatcher-servlet.xml · tiles.xml</vt:lpstr>
      <vt:lpstr>1주차 · dispatcher-servlet.xml · tiles.xml</vt:lpstr>
      <vt:lpstr>1주차 · dispatcher-servlet.xml · tiles.xml</vt:lpstr>
      <vt:lpstr>1주차 로그인 페이지</vt:lpstr>
      <vt:lpstr>1주차 로그인 페이지</vt:lpstr>
      <vt:lpstr>1주차 로그인 페이지</vt:lpstr>
      <vt:lpstr>1주차 로그인 페이지</vt:lpstr>
      <vt:lpstr>2주차 · 학습 목표</vt:lpstr>
      <vt:lpstr>2주차 · 학습 목표</vt:lpstr>
      <vt:lpstr>2주차 · 학습 목표</vt:lpstr>
      <vt:lpstr>2주차 · 카카오 인증 키 발급</vt:lpstr>
      <vt:lpstr>2주차 · 카카오 인증 키 발급</vt:lpstr>
      <vt:lpstr>2주차 · 카카오 인증 키 사용</vt:lpstr>
      <vt:lpstr>2주차 사용자 인증 로그인 절차</vt:lpstr>
      <vt:lpstr>2주차 사용자 인증 로그인 절차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카카오 인증 로그인 구현 구조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컨트롤러 · AuthController</vt:lpstr>
      <vt:lpstr>2주차 · 서비스 · 매퍼 · XML · JSP</vt:lpstr>
      <vt:lpstr>2주차 · 서비스 · 매퍼 · XML · JSP</vt:lpstr>
      <vt:lpstr>2주차. 카카오 인증</vt:lpstr>
      <vt:lpstr>3주차 · 학습 목표</vt:lpstr>
      <vt:lpstr>3주차 · 블로그 생성 및 관리 구조</vt:lpstr>
      <vt:lpstr>3주차 · 계층별 파일 (블로그·관리자)</vt:lpstr>
      <vt:lpstr>4주차 · 학습 목표</vt:lpstr>
      <vt:lpstr>4주차 · 테스트 케이스 구현 (권장 범위)</vt:lpstr>
      <vt:lpstr>4주차 · 실습 과제 예시</vt:lpstr>
      <vt:lpstr>5주차 · 학습 목표</vt:lpstr>
      <vt:lpstr>5주차 · 2-tier 구현 구조</vt:lpstr>
      <vt:lpstr>5주차 · 서버(WAS)에 설치·설정할 항목</vt:lpstr>
      <vt:lpstr>5주차 · DB 서버 설치·설정</vt:lpstr>
      <vt:lpstr>5주차 · 컴파일 · 전달 · 실행</vt:lpstr>
      <vt:lpstr>마무리 · 참고 자료 (프로젝트 내)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webblog 실습 교안 (5주)</dc:title>
  <dc:subject/>
  <dc:creator/>
  <cp:keywords/>
  <dc:description>generated using python-pptx</dc:description>
  <cp:lastModifiedBy>AI소프트웨어과</cp:lastModifiedBy>
  <cp:revision>61</cp:revision>
  <dcterms:created xsi:type="dcterms:W3CDTF">2013-01-27T09:14:16Z</dcterms:created>
  <dcterms:modified xsi:type="dcterms:W3CDTF">2026-04-27T01:48:50Z</dcterms:modified>
  <cp:category/>
</cp:coreProperties>
</file>